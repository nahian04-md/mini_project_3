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1186" y="29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oisa Salinas" userId="c40572b7343d86c4" providerId="LiveId" clId="{58FD0C4E-E11B-483D-BEF5-AE8952E2164F}"/>
    <pc:docChg chg="modSld">
      <pc:chgData name="Eloisa Salinas" userId="c40572b7343d86c4" providerId="LiveId" clId="{58FD0C4E-E11B-483D-BEF5-AE8952E2164F}" dt="2025-11-07T16:19:31.667" v="23" actId="1076"/>
      <pc:docMkLst>
        <pc:docMk/>
      </pc:docMkLst>
      <pc:sldChg chg="modSp mod">
        <pc:chgData name="Eloisa Salinas" userId="c40572b7343d86c4" providerId="LiveId" clId="{58FD0C4E-E11B-483D-BEF5-AE8952E2164F}" dt="2025-11-07T16:19:31.667" v="23" actId="1076"/>
        <pc:sldMkLst>
          <pc:docMk/>
          <pc:sldMk cId="0" sldId="265"/>
        </pc:sldMkLst>
        <pc:spChg chg="mod">
          <ac:chgData name="Eloisa Salinas" userId="c40572b7343d86c4" providerId="LiveId" clId="{58FD0C4E-E11B-483D-BEF5-AE8952E2164F}" dt="2025-11-07T16:19:20.632" v="19" actId="1076"/>
          <ac:spMkLst>
            <pc:docMk/>
            <pc:sldMk cId="0" sldId="265"/>
            <ac:spMk id="142" creationId="{00000000-0000-0000-0000-000000000000}"/>
          </ac:spMkLst>
        </pc:spChg>
        <pc:spChg chg="mod">
          <ac:chgData name="Eloisa Salinas" userId="c40572b7343d86c4" providerId="LiveId" clId="{58FD0C4E-E11B-483D-BEF5-AE8952E2164F}" dt="2025-11-07T16:19:31.667" v="23" actId="1076"/>
          <ac:spMkLst>
            <pc:docMk/>
            <pc:sldMk cId="0" sldId="265"/>
            <ac:spMk id="14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a13204ed3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a13204ed3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a13204ed3a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a13204ed3a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a13204ed3a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a13204ed3a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a13204ed3a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a13204ed3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13204ed3a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13204ed3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13204ed3a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a13204ed3a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a13204ed3a_3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a13204ed3a_3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13204ed3a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a13204ed3a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a13204ed3a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a13204ed3a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a13204ed3a_3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a13204ed3a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13204ed3a_3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a13204ed3a_3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a13204ed3a_3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a13204ed3a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13204ed3a_3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a13204ed3a_3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13204ed3a_0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a13204ed3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a13204ed3a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a13204ed3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a13204ed3a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a13204ed3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13204ed3a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a13204ed3a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a13204ed3a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a13204ed3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a13204ed3a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a13204ed3a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264725" y="3526950"/>
            <a:ext cx="8520600" cy="161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300"/>
              <a:t>Eloisa</a:t>
            </a:r>
            <a:endParaRPr sz="2300"/>
          </a:p>
          <a:p>
            <a:pPr marL="0" lvl="0" indent="0" algn="l" rtl="0">
              <a:spcBef>
                <a:spcPts val="0"/>
              </a:spcBef>
              <a:spcAft>
                <a:spcPts val="0"/>
              </a:spcAft>
              <a:buNone/>
            </a:pPr>
            <a:r>
              <a:rPr lang="en" sz="2300"/>
              <a:t>Diogo</a:t>
            </a:r>
            <a:endParaRPr sz="2300"/>
          </a:p>
          <a:p>
            <a:pPr marL="0" lvl="0" indent="0" algn="l" rtl="0">
              <a:spcBef>
                <a:spcPts val="0"/>
              </a:spcBef>
              <a:spcAft>
                <a:spcPts val="0"/>
              </a:spcAft>
              <a:buNone/>
            </a:pPr>
            <a:r>
              <a:rPr lang="en" sz="2300"/>
              <a:t>Lokesh</a:t>
            </a:r>
            <a:endParaRPr sz="2300"/>
          </a:p>
        </p:txBody>
      </p:sp>
      <p:pic>
        <p:nvPicPr>
          <p:cNvPr id="55" name="Google Shape;55;p13"/>
          <p:cNvPicPr preferRelativeResize="0"/>
          <p:nvPr/>
        </p:nvPicPr>
        <p:blipFill>
          <a:blip r:embed="rId3">
            <a:alphaModFix/>
          </a:blip>
          <a:stretch>
            <a:fillRect/>
          </a:stretch>
        </p:blipFill>
        <p:spPr>
          <a:xfrm>
            <a:off x="542550" y="603602"/>
            <a:ext cx="4286249" cy="2712724"/>
          </a:xfrm>
          <a:prstGeom prst="rect">
            <a:avLst/>
          </a:prstGeom>
          <a:noFill/>
          <a:ln>
            <a:noFill/>
          </a:ln>
        </p:spPr>
      </p:pic>
      <p:sp>
        <p:nvSpPr>
          <p:cNvPr id="56" name="Google Shape;56;p13"/>
          <p:cNvSpPr txBox="1"/>
          <p:nvPr/>
        </p:nvSpPr>
        <p:spPr>
          <a:xfrm>
            <a:off x="5345475" y="1269888"/>
            <a:ext cx="2886600" cy="89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b="1">
                <a:solidFill>
                  <a:schemeClr val="dk2"/>
                </a:solidFill>
              </a:rPr>
              <a:t>Mini project</a:t>
            </a:r>
            <a:endParaRPr sz="2300" b="1">
              <a:solidFill>
                <a:schemeClr val="dk2"/>
              </a:solidFill>
            </a:endParaRPr>
          </a:p>
          <a:p>
            <a:pPr marL="0" lvl="0" indent="0" algn="l" rtl="0">
              <a:spcBef>
                <a:spcPts val="0"/>
              </a:spcBef>
              <a:spcAft>
                <a:spcPts val="0"/>
              </a:spcAft>
              <a:buNone/>
            </a:pPr>
            <a:r>
              <a:rPr lang="en" sz="2300" b="1">
                <a:solidFill>
                  <a:schemeClr val="dk2"/>
                </a:solidFill>
              </a:rPr>
              <a:t>Machine Learning</a:t>
            </a:r>
            <a:endParaRPr sz="2300" b="1">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Project Overview</a:t>
            </a:r>
            <a:endParaRPr b="1"/>
          </a:p>
        </p:txBody>
      </p:sp>
      <p:sp>
        <p:nvSpPr>
          <p:cNvPr id="62" name="Google Shape;62;p14"/>
          <p:cNvSpPr txBox="1">
            <a:spLocks noGrp="1"/>
          </p:cNvSpPr>
          <p:nvPr>
            <p:ph type="body" idx="1"/>
          </p:nvPr>
        </p:nvSpPr>
        <p:spPr>
          <a:xfrm>
            <a:off x="311700" y="1152475"/>
            <a:ext cx="8520600" cy="3796200"/>
          </a:xfrm>
          <a:prstGeom prst="rect">
            <a:avLst/>
          </a:prstGeom>
          <a:ln w="9525" cap="flat" cmpd="sng">
            <a:solidFill>
              <a:srgbClr val="B7B7B7"/>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r>
              <a:rPr lang="en" sz="1551" b="1" u="sng"/>
              <a:t>Project Objective:</a:t>
            </a:r>
            <a:endParaRPr sz="1551" b="1" u="sng"/>
          </a:p>
          <a:p>
            <a:pPr marL="0" lvl="0" indent="0" algn="l" rtl="0">
              <a:spcBef>
                <a:spcPts val="1200"/>
              </a:spcBef>
              <a:spcAft>
                <a:spcPts val="0"/>
              </a:spcAft>
              <a:buNone/>
            </a:pPr>
            <a:r>
              <a:rPr lang="en" sz="1500" b="1"/>
              <a:t>This project strengthens Machine Learning analytical thinking and Python data analysis skills.</a:t>
            </a:r>
            <a:endParaRPr sz="1251" b="1">
              <a:solidFill>
                <a:schemeClr val="dk1"/>
              </a:solidFill>
            </a:endParaRPr>
          </a:p>
          <a:p>
            <a:pPr marL="0" lvl="0" indent="0" algn="l" rtl="0">
              <a:spcBef>
                <a:spcPts val="1200"/>
              </a:spcBef>
              <a:spcAft>
                <a:spcPts val="0"/>
              </a:spcAft>
              <a:buNone/>
            </a:pPr>
            <a:r>
              <a:rPr lang="en" sz="1600" b="1" u="sng"/>
              <a:t>Project Description:</a:t>
            </a:r>
            <a:endParaRPr sz="1600" b="1" u="sng"/>
          </a:p>
          <a:p>
            <a:pPr marL="0" lvl="0" indent="0" algn="l" rtl="0">
              <a:spcBef>
                <a:spcPts val="1200"/>
              </a:spcBef>
              <a:spcAft>
                <a:spcPts val="0"/>
              </a:spcAft>
              <a:buNone/>
            </a:pPr>
            <a:r>
              <a:rPr lang="en" sz="1500" b="1"/>
              <a:t>Explore a one-year dataset of King County house sales (May 2014–May 2015) to analyze pricing trends through data loading, visualization, and models analysis, </a:t>
            </a:r>
            <a:r>
              <a:rPr lang="en" sz="1500" b="1">
                <a:highlight>
                  <a:srgbClr val="FFFFFF"/>
                </a:highlight>
              </a:rPr>
              <a:t>been price the target feature.</a:t>
            </a:r>
            <a:endParaRPr sz="1600" b="1" u="sng"/>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36425" y="405700"/>
            <a:ext cx="8212500" cy="535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Work Flow</a:t>
            </a:r>
            <a:endParaRPr b="1"/>
          </a:p>
        </p:txBody>
      </p:sp>
      <p:sp>
        <p:nvSpPr>
          <p:cNvPr id="68" name="Google Shape;68;p15"/>
          <p:cNvSpPr/>
          <p:nvPr/>
        </p:nvSpPr>
        <p:spPr>
          <a:xfrm>
            <a:off x="4334700" y="506700"/>
            <a:ext cx="2343900" cy="692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Work flow of Machine Learning Model </a:t>
            </a:r>
            <a:endParaRPr/>
          </a:p>
        </p:txBody>
      </p:sp>
      <p:cxnSp>
        <p:nvCxnSpPr>
          <p:cNvPr id="69" name="Google Shape;69;p15"/>
          <p:cNvCxnSpPr>
            <a:stCxn id="68" idx="2"/>
          </p:cNvCxnSpPr>
          <p:nvPr/>
        </p:nvCxnSpPr>
        <p:spPr>
          <a:xfrm flipH="1">
            <a:off x="3524250" y="1198800"/>
            <a:ext cx="1982400" cy="473100"/>
          </a:xfrm>
          <a:prstGeom prst="straightConnector1">
            <a:avLst/>
          </a:prstGeom>
          <a:noFill/>
          <a:ln w="9525" cap="flat" cmpd="sng">
            <a:solidFill>
              <a:schemeClr val="dk2"/>
            </a:solidFill>
            <a:prstDash val="solid"/>
            <a:round/>
            <a:headEnd type="none" w="med" len="med"/>
            <a:tailEnd type="none" w="med" len="med"/>
          </a:ln>
        </p:spPr>
      </p:cxnSp>
      <p:sp>
        <p:nvSpPr>
          <p:cNvPr id="70" name="Google Shape;70;p15"/>
          <p:cNvSpPr/>
          <p:nvPr/>
        </p:nvSpPr>
        <p:spPr>
          <a:xfrm>
            <a:off x="2597575" y="1660475"/>
            <a:ext cx="1854600" cy="5802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Model Training With Raw Data Path</a:t>
            </a:r>
            <a:endParaRPr/>
          </a:p>
        </p:txBody>
      </p:sp>
      <p:sp>
        <p:nvSpPr>
          <p:cNvPr id="71" name="Google Shape;71;p15"/>
          <p:cNvSpPr/>
          <p:nvPr/>
        </p:nvSpPr>
        <p:spPr>
          <a:xfrm>
            <a:off x="6484625" y="1604525"/>
            <a:ext cx="2064300" cy="692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Model Training With Filtered Data Path</a:t>
            </a:r>
            <a:endParaRPr/>
          </a:p>
        </p:txBody>
      </p:sp>
      <p:cxnSp>
        <p:nvCxnSpPr>
          <p:cNvPr id="72" name="Google Shape;72;p15"/>
          <p:cNvCxnSpPr>
            <a:stCxn id="68" idx="2"/>
            <a:endCxn id="71" idx="0"/>
          </p:cNvCxnSpPr>
          <p:nvPr/>
        </p:nvCxnSpPr>
        <p:spPr>
          <a:xfrm>
            <a:off x="5506650" y="1198800"/>
            <a:ext cx="2010000" cy="405600"/>
          </a:xfrm>
          <a:prstGeom prst="straightConnector1">
            <a:avLst/>
          </a:prstGeom>
          <a:noFill/>
          <a:ln w="9525" cap="flat" cmpd="sng">
            <a:solidFill>
              <a:schemeClr val="dk2"/>
            </a:solidFill>
            <a:prstDash val="solid"/>
            <a:round/>
            <a:headEnd type="none" w="med" len="med"/>
            <a:tailEnd type="none" w="med" len="med"/>
          </a:ln>
        </p:spPr>
      </p:cxnSp>
      <p:cxnSp>
        <p:nvCxnSpPr>
          <p:cNvPr id="73" name="Google Shape;73;p15"/>
          <p:cNvCxnSpPr/>
          <p:nvPr/>
        </p:nvCxnSpPr>
        <p:spPr>
          <a:xfrm>
            <a:off x="3524275" y="2240675"/>
            <a:ext cx="1200" cy="205200"/>
          </a:xfrm>
          <a:prstGeom prst="straightConnector1">
            <a:avLst/>
          </a:prstGeom>
          <a:noFill/>
          <a:ln w="9525" cap="flat" cmpd="sng">
            <a:solidFill>
              <a:schemeClr val="dk2"/>
            </a:solidFill>
            <a:prstDash val="solid"/>
            <a:round/>
            <a:headEnd type="none" w="med" len="med"/>
            <a:tailEnd type="none" w="med" len="med"/>
          </a:ln>
        </p:spPr>
      </p:cxnSp>
      <p:sp>
        <p:nvSpPr>
          <p:cNvPr id="74" name="Google Shape;74;p15"/>
          <p:cNvSpPr/>
          <p:nvPr/>
        </p:nvSpPr>
        <p:spPr>
          <a:xfrm>
            <a:off x="2352925" y="2414375"/>
            <a:ext cx="2343900" cy="11289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Linear Regression</a:t>
            </a:r>
            <a:endParaRPr/>
          </a:p>
          <a:p>
            <a:pPr marL="0" lvl="0" indent="0" algn="l" rtl="0">
              <a:spcBef>
                <a:spcPts val="0"/>
              </a:spcBef>
              <a:spcAft>
                <a:spcPts val="0"/>
              </a:spcAft>
              <a:buNone/>
            </a:pPr>
            <a:r>
              <a:rPr lang="en"/>
              <a:t>Polynomial Regression</a:t>
            </a:r>
            <a:endParaRPr/>
          </a:p>
          <a:p>
            <a:pPr marL="0" lvl="0" indent="0" algn="l" rtl="0">
              <a:spcBef>
                <a:spcPts val="0"/>
              </a:spcBef>
              <a:spcAft>
                <a:spcPts val="0"/>
              </a:spcAft>
              <a:buNone/>
            </a:pPr>
            <a:r>
              <a:rPr lang="en"/>
              <a:t>Random Forest</a:t>
            </a:r>
            <a:endParaRPr/>
          </a:p>
          <a:p>
            <a:pPr marL="0" lvl="0" indent="0" algn="l" rtl="0">
              <a:spcBef>
                <a:spcPts val="0"/>
              </a:spcBef>
              <a:spcAft>
                <a:spcPts val="0"/>
              </a:spcAft>
              <a:buNone/>
            </a:pPr>
            <a:r>
              <a:rPr lang="en"/>
              <a:t>Xg Boost</a:t>
            </a:r>
            <a:endParaRPr/>
          </a:p>
        </p:txBody>
      </p:sp>
      <p:sp>
        <p:nvSpPr>
          <p:cNvPr id="75" name="Google Shape;75;p15"/>
          <p:cNvSpPr/>
          <p:nvPr/>
        </p:nvSpPr>
        <p:spPr>
          <a:xfrm>
            <a:off x="6484625" y="2445875"/>
            <a:ext cx="2064300" cy="10659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EDA</a:t>
            </a:r>
            <a:endParaRPr/>
          </a:p>
          <a:p>
            <a:pPr marL="0" lvl="0" indent="0" algn="l" rtl="0">
              <a:spcBef>
                <a:spcPts val="0"/>
              </a:spcBef>
              <a:spcAft>
                <a:spcPts val="0"/>
              </a:spcAft>
              <a:buNone/>
            </a:pPr>
            <a:r>
              <a:rPr lang="en"/>
              <a:t>Data Cleaning</a:t>
            </a:r>
            <a:endParaRPr/>
          </a:p>
          <a:p>
            <a:pPr marL="0" lvl="0" indent="0" algn="l" rtl="0">
              <a:spcBef>
                <a:spcPts val="0"/>
              </a:spcBef>
              <a:spcAft>
                <a:spcPts val="0"/>
              </a:spcAft>
              <a:buNone/>
            </a:pPr>
            <a:r>
              <a:rPr lang="en"/>
              <a:t>Feature Engineering</a:t>
            </a:r>
            <a:endParaRPr/>
          </a:p>
          <a:p>
            <a:pPr marL="0" lvl="0" indent="0" algn="l" rtl="0">
              <a:spcBef>
                <a:spcPts val="0"/>
              </a:spcBef>
              <a:spcAft>
                <a:spcPts val="0"/>
              </a:spcAft>
              <a:buNone/>
            </a:pPr>
            <a:r>
              <a:rPr lang="en"/>
              <a:t>Data Scaling</a:t>
            </a:r>
            <a:endParaRPr/>
          </a:p>
          <a:p>
            <a:pPr marL="0" lvl="0" indent="0" algn="l" rtl="0">
              <a:spcBef>
                <a:spcPts val="0"/>
              </a:spcBef>
              <a:spcAft>
                <a:spcPts val="0"/>
              </a:spcAft>
              <a:buNone/>
            </a:pPr>
            <a:r>
              <a:rPr lang="en"/>
              <a:t>Data Encoding</a:t>
            </a:r>
            <a:endParaRPr/>
          </a:p>
          <a:p>
            <a:pPr marL="0" lvl="0" indent="0" algn="l" rtl="0">
              <a:spcBef>
                <a:spcPts val="0"/>
              </a:spcBef>
              <a:spcAft>
                <a:spcPts val="0"/>
              </a:spcAft>
              <a:buNone/>
            </a:pPr>
            <a:endParaRPr/>
          </a:p>
        </p:txBody>
      </p:sp>
      <p:cxnSp>
        <p:nvCxnSpPr>
          <p:cNvPr id="76" name="Google Shape;76;p15"/>
          <p:cNvCxnSpPr>
            <a:stCxn id="75" idx="0"/>
            <a:endCxn id="75" idx="0"/>
          </p:cNvCxnSpPr>
          <p:nvPr/>
        </p:nvCxnSpPr>
        <p:spPr>
          <a:xfrm>
            <a:off x="7516775" y="2445875"/>
            <a:ext cx="0" cy="0"/>
          </a:xfrm>
          <a:prstGeom prst="straightConnector1">
            <a:avLst/>
          </a:prstGeom>
          <a:noFill/>
          <a:ln w="9525" cap="flat" cmpd="sng">
            <a:solidFill>
              <a:schemeClr val="dk2"/>
            </a:solidFill>
            <a:prstDash val="solid"/>
            <a:round/>
            <a:headEnd type="none" w="med" len="med"/>
            <a:tailEnd type="none" w="med" len="med"/>
          </a:ln>
        </p:spPr>
      </p:cxnSp>
      <p:sp>
        <p:nvSpPr>
          <p:cNvPr id="77" name="Google Shape;77;p15"/>
          <p:cNvSpPr/>
          <p:nvPr/>
        </p:nvSpPr>
        <p:spPr>
          <a:xfrm>
            <a:off x="6484625" y="3716975"/>
            <a:ext cx="2064300" cy="692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Model Training and Evaluation</a:t>
            </a:r>
            <a:endParaRPr/>
          </a:p>
        </p:txBody>
      </p:sp>
      <p:cxnSp>
        <p:nvCxnSpPr>
          <p:cNvPr id="78" name="Google Shape;78;p15"/>
          <p:cNvCxnSpPr/>
          <p:nvPr/>
        </p:nvCxnSpPr>
        <p:spPr>
          <a:xfrm>
            <a:off x="7516175" y="2240675"/>
            <a:ext cx="1200" cy="205200"/>
          </a:xfrm>
          <a:prstGeom prst="straightConnector1">
            <a:avLst/>
          </a:prstGeom>
          <a:noFill/>
          <a:ln w="9525" cap="flat" cmpd="sng">
            <a:solidFill>
              <a:schemeClr val="dk2"/>
            </a:solidFill>
            <a:prstDash val="solid"/>
            <a:round/>
            <a:headEnd type="none" w="med" len="med"/>
            <a:tailEnd type="none" w="med" len="med"/>
          </a:ln>
        </p:spPr>
      </p:cxnSp>
      <p:cxnSp>
        <p:nvCxnSpPr>
          <p:cNvPr id="79" name="Google Shape;79;p15"/>
          <p:cNvCxnSpPr/>
          <p:nvPr/>
        </p:nvCxnSpPr>
        <p:spPr>
          <a:xfrm>
            <a:off x="7516175" y="3511775"/>
            <a:ext cx="1200" cy="2052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2773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Implementation Details</a:t>
            </a:r>
            <a:endParaRPr/>
          </a:p>
        </p:txBody>
      </p:sp>
      <p:sp>
        <p:nvSpPr>
          <p:cNvPr id="85" name="Google Shape;8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400">
              <a:solidFill>
                <a:srgbClr val="000000"/>
              </a:solidFill>
            </a:endParaRPr>
          </a:p>
          <a:p>
            <a:pPr marL="0" lvl="0" indent="0" algn="l" rtl="0">
              <a:spcBef>
                <a:spcPts val="0"/>
              </a:spcBef>
              <a:spcAft>
                <a:spcPts val="1200"/>
              </a:spcAft>
              <a:buNone/>
            </a:pPr>
            <a:endParaRPr/>
          </a:p>
        </p:txBody>
      </p:sp>
      <p:sp>
        <p:nvSpPr>
          <p:cNvPr id="86" name="Google Shape;86;p16"/>
          <p:cNvSpPr txBox="1"/>
          <p:nvPr/>
        </p:nvSpPr>
        <p:spPr>
          <a:xfrm>
            <a:off x="812625" y="1413875"/>
            <a:ext cx="50025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EDA</a:t>
            </a:r>
            <a:endParaRPr sz="1800" b="1">
              <a:solidFill>
                <a:schemeClr val="dk2"/>
              </a:solidFill>
            </a:endParaRPr>
          </a:p>
          <a:p>
            <a:pPr marL="0" lvl="0" indent="0" algn="l" rtl="0">
              <a:spcBef>
                <a:spcPts val="0"/>
              </a:spcBef>
              <a:spcAft>
                <a:spcPts val="0"/>
              </a:spcAft>
              <a:buNone/>
            </a:pPr>
            <a:r>
              <a:rPr lang="en" sz="1100">
                <a:solidFill>
                  <a:schemeClr val="dk1"/>
                </a:solidFill>
              </a:rPr>
              <a:t>As part of our analysis, we began with an </a:t>
            </a:r>
            <a:r>
              <a:rPr lang="en" sz="1100" b="1">
                <a:solidFill>
                  <a:schemeClr val="dk1"/>
                </a:solidFill>
              </a:rPr>
              <a:t>Exploratory Data Analysis (EDA)</a:t>
            </a:r>
            <a:r>
              <a:rPr lang="en" sz="1100">
                <a:solidFill>
                  <a:schemeClr val="dk1"/>
                </a:solidFill>
              </a:rPr>
              <a:t> to better understand the dataset before building any predictive models.</a:t>
            </a:r>
            <a:endParaRPr sz="1100">
              <a:solidFill>
                <a:schemeClr val="dk1"/>
              </a:solidFill>
            </a:endParaRPr>
          </a:p>
          <a:p>
            <a:pPr marL="0" lvl="0" indent="0" algn="l" rtl="0">
              <a:spcBef>
                <a:spcPts val="0"/>
              </a:spcBef>
              <a:spcAft>
                <a:spcPts val="0"/>
              </a:spcAft>
              <a:buNone/>
            </a:pPr>
            <a:r>
              <a:rPr lang="en" sz="1100">
                <a:solidFill>
                  <a:schemeClr val="dk1"/>
                </a:solidFill>
              </a:rPr>
              <a:t>We made sure the dataset was clean and consistent.</a:t>
            </a:r>
            <a:endParaRPr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 sz="1100">
                <a:solidFill>
                  <a:schemeClr val="dk1"/>
                </a:solidFill>
              </a:rPr>
              <a:t>To gain deeper insights, we visualized relationships between variables to identify features most related to house prices. This step was key in shaping our approach for the modeling phase.</a:t>
            </a:r>
            <a:endParaRPr sz="1100">
              <a:solidFill>
                <a:schemeClr val="dk1"/>
              </a:solidFill>
            </a:endParaRPr>
          </a:p>
        </p:txBody>
      </p:sp>
      <p:pic>
        <p:nvPicPr>
          <p:cNvPr id="87" name="Google Shape;87;p16"/>
          <p:cNvPicPr preferRelativeResize="0"/>
          <p:nvPr/>
        </p:nvPicPr>
        <p:blipFill>
          <a:blip r:embed="rId3">
            <a:alphaModFix/>
          </a:blip>
          <a:stretch>
            <a:fillRect/>
          </a:stretch>
        </p:blipFill>
        <p:spPr>
          <a:xfrm>
            <a:off x="6597300" y="1991525"/>
            <a:ext cx="2343150" cy="2095500"/>
          </a:xfrm>
          <a:prstGeom prst="rect">
            <a:avLst/>
          </a:prstGeom>
          <a:noFill/>
          <a:ln>
            <a:noFill/>
          </a:ln>
        </p:spPr>
      </p:pic>
      <p:sp>
        <p:nvSpPr>
          <p:cNvPr id="88" name="Google Shape;88;p16"/>
          <p:cNvSpPr/>
          <p:nvPr/>
        </p:nvSpPr>
        <p:spPr>
          <a:xfrm>
            <a:off x="49200" y="4520600"/>
            <a:ext cx="9045600" cy="572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9545"/>
              </a:lnSpc>
              <a:spcBef>
                <a:spcPts val="0"/>
              </a:spcBef>
              <a:spcAft>
                <a:spcPts val="0"/>
              </a:spcAft>
              <a:buNone/>
            </a:pPr>
            <a:endParaRPr>
              <a:solidFill>
                <a:schemeClr val="dk1"/>
              </a:solidFill>
            </a:endParaRPr>
          </a:p>
          <a:p>
            <a:pPr marL="0" lvl="0" indent="0" algn="l" rtl="0">
              <a:lnSpc>
                <a:spcPct val="129545"/>
              </a:lnSpc>
              <a:spcBef>
                <a:spcPts val="0"/>
              </a:spcBef>
              <a:spcAft>
                <a:spcPts val="0"/>
              </a:spcAft>
              <a:buNone/>
            </a:pPr>
            <a:r>
              <a:rPr lang="en" sz="1200">
                <a:solidFill>
                  <a:schemeClr val="dk1"/>
                </a:solidFill>
                <a:latin typeface="Roboto"/>
                <a:ea typeface="Roboto"/>
                <a:cs typeface="Roboto"/>
                <a:sym typeface="Roboto"/>
              </a:rPr>
              <a:t>Reviewed the Data Frame structure, removed duplicate entries, and validated data types as part of core exploratory data analysis activities.</a:t>
            </a:r>
            <a:endParaRPr>
              <a:solidFill>
                <a:schemeClr val="dk1"/>
              </a:solidFill>
            </a:endParaRPr>
          </a:p>
          <a:p>
            <a:pPr marL="0" lvl="0" indent="0" algn="l" rtl="0">
              <a:lnSpc>
                <a:spcPct val="129545"/>
              </a:lnSpc>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Model Comparison (On Raw Data)</a:t>
            </a:r>
            <a:endParaRPr b="1"/>
          </a:p>
        </p:txBody>
      </p:sp>
      <p:pic>
        <p:nvPicPr>
          <p:cNvPr id="94" name="Google Shape;94;p17"/>
          <p:cNvPicPr preferRelativeResize="0"/>
          <p:nvPr/>
        </p:nvPicPr>
        <p:blipFill rotWithShape="1">
          <a:blip r:embed="rId3">
            <a:alphaModFix/>
          </a:blip>
          <a:srcRect/>
          <a:stretch/>
        </p:blipFill>
        <p:spPr>
          <a:xfrm>
            <a:off x="311700" y="2158508"/>
            <a:ext cx="8368826" cy="1382267"/>
          </a:xfrm>
          <a:prstGeom prst="rect">
            <a:avLst/>
          </a:prstGeom>
          <a:noFill/>
          <a:ln>
            <a:noFill/>
          </a:ln>
        </p:spPr>
      </p:pic>
      <p:sp>
        <p:nvSpPr>
          <p:cNvPr id="95" name="Google Shape;95;p17"/>
          <p:cNvSpPr/>
          <p:nvPr/>
        </p:nvSpPr>
        <p:spPr>
          <a:xfrm>
            <a:off x="49325" y="3919875"/>
            <a:ext cx="9094800" cy="1223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9545"/>
              </a:lnSpc>
              <a:spcBef>
                <a:spcPts val="0"/>
              </a:spcBef>
              <a:spcAft>
                <a:spcPts val="0"/>
              </a:spcAft>
              <a:buClr>
                <a:schemeClr val="dk1"/>
              </a:buClr>
              <a:buSzPts val="1100"/>
              <a:buFont typeface="Arial"/>
              <a:buNone/>
            </a:pPr>
            <a:r>
              <a:rPr lang="en">
                <a:solidFill>
                  <a:schemeClr val="dk1"/>
                </a:solidFill>
              </a:rPr>
              <a:t>- XGBoost and Random Forest gave the best results (highest R², lowest errors).</a:t>
            </a:r>
            <a:endParaRPr>
              <a:solidFill>
                <a:schemeClr val="dk1"/>
              </a:solidFill>
            </a:endParaRPr>
          </a:p>
          <a:p>
            <a:pPr marL="0" lvl="0" indent="0" algn="l" rtl="0">
              <a:lnSpc>
                <a:spcPct val="129545"/>
              </a:lnSpc>
              <a:spcBef>
                <a:spcPts val="0"/>
              </a:spcBef>
              <a:spcAft>
                <a:spcPts val="0"/>
              </a:spcAft>
              <a:buClr>
                <a:schemeClr val="dk1"/>
              </a:buClr>
              <a:buSzPts val="1100"/>
              <a:buFont typeface="Arial"/>
              <a:buNone/>
            </a:pPr>
            <a:r>
              <a:rPr lang="en">
                <a:solidFill>
                  <a:schemeClr val="dk1"/>
                </a:solidFill>
              </a:rPr>
              <a:t>- Polynomial regression improved over linear, but less than tree-based models.</a:t>
            </a:r>
            <a:endParaRPr>
              <a:solidFill>
                <a:schemeClr val="dk1"/>
              </a:solidFill>
            </a:endParaRPr>
          </a:p>
          <a:p>
            <a:pPr marL="0" lvl="0" indent="0" algn="l" rtl="0">
              <a:lnSpc>
                <a:spcPct val="129545"/>
              </a:lnSpc>
              <a:spcBef>
                <a:spcPts val="0"/>
              </a:spcBef>
              <a:spcAft>
                <a:spcPts val="0"/>
              </a:spcAft>
              <a:buNone/>
            </a:pPr>
            <a:r>
              <a:rPr lang="en">
                <a:solidFill>
                  <a:schemeClr val="dk1"/>
                </a:solidFill>
              </a:rPr>
              <a:t>- AdaBoost performed poorly and is not suitable on this dataset.</a:t>
            </a:r>
            <a:endParaRPr/>
          </a:p>
        </p:txBody>
      </p:sp>
      <p:sp>
        <p:nvSpPr>
          <p:cNvPr id="96" name="Google Shape;96;p17"/>
          <p:cNvSpPr/>
          <p:nvPr/>
        </p:nvSpPr>
        <p:spPr>
          <a:xfrm>
            <a:off x="192613" y="2915775"/>
            <a:ext cx="8607000" cy="361200"/>
          </a:xfrm>
          <a:prstGeom prst="rect">
            <a:avLst/>
          </a:prstGeom>
          <a:noFill/>
          <a:ln w="28575" cap="flat" cmpd="sng">
            <a:solidFill>
              <a:srgbClr val="FFFF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Implementation Details</a:t>
            </a:r>
            <a:endParaRPr/>
          </a:p>
        </p:txBody>
      </p:sp>
      <p:sp>
        <p:nvSpPr>
          <p:cNvPr id="102" name="Google Shape;102;p18"/>
          <p:cNvSpPr txBox="1">
            <a:spLocks noGrp="1"/>
          </p:cNvSpPr>
          <p:nvPr>
            <p:ph type="body" idx="1"/>
          </p:nvPr>
        </p:nvSpPr>
        <p:spPr>
          <a:xfrm>
            <a:off x="574200" y="1302925"/>
            <a:ext cx="8520600" cy="3284100"/>
          </a:xfrm>
          <a:prstGeom prst="rect">
            <a:avLst/>
          </a:prstGeom>
        </p:spPr>
        <p:txBody>
          <a:bodyPr spcFirstLastPara="1" wrap="square" lIns="91425" tIns="91425" rIns="91425" bIns="91425" anchor="t" anchorCtr="0">
            <a:normAutofit fontScale="77500" lnSpcReduction="20000"/>
          </a:bodyPr>
          <a:lstStyle/>
          <a:p>
            <a:pPr marL="0" lvl="0" indent="0" algn="l" rtl="0">
              <a:lnSpc>
                <a:spcPct val="90000"/>
              </a:lnSpc>
              <a:spcBef>
                <a:spcPts val="1000"/>
              </a:spcBef>
              <a:spcAft>
                <a:spcPts val="0"/>
              </a:spcAft>
              <a:buNone/>
            </a:pPr>
            <a:r>
              <a:rPr lang="en" sz="1900">
                <a:solidFill>
                  <a:schemeClr val="dk1"/>
                </a:solidFill>
              </a:rPr>
              <a:t>Price, the target feature, shows a </a:t>
            </a:r>
            <a:endParaRPr sz="1900">
              <a:solidFill>
                <a:schemeClr val="dk1"/>
              </a:solidFill>
            </a:endParaRPr>
          </a:p>
          <a:p>
            <a:pPr marL="0" lvl="0" indent="0" algn="l" rtl="0">
              <a:lnSpc>
                <a:spcPct val="90000"/>
              </a:lnSpc>
              <a:spcBef>
                <a:spcPts val="1000"/>
              </a:spcBef>
              <a:spcAft>
                <a:spcPts val="0"/>
              </a:spcAft>
              <a:buNone/>
            </a:pPr>
            <a:r>
              <a:rPr lang="en" sz="1900">
                <a:solidFill>
                  <a:schemeClr val="dk1"/>
                </a:solidFill>
              </a:rPr>
              <a:t>positively skewed distribution.</a:t>
            </a: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r>
              <a:rPr lang="en" sz="1900">
                <a:solidFill>
                  <a:schemeClr val="dk1"/>
                </a:solidFill>
              </a:rPr>
              <a:t>sqft_living and sqft_above present</a:t>
            </a:r>
            <a:endParaRPr sz="1900">
              <a:solidFill>
                <a:schemeClr val="dk1"/>
              </a:solidFill>
            </a:endParaRPr>
          </a:p>
          <a:p>
            <a:pPr marL="0" lvl="0" indent="0" algn="l" rtl="0">
              <a:lnSpc>
                <a:spcPct val="90000"/>
              </a:lnSpc>
              <a:spcBef>
                <a:spcPts val="1000"/>
              </a:spcBef>
              <a:spcAft>
                <a:spcPts val="0"/>
              </a:spcAft>
              <a:buNone/>
            </a:pPr>
            <a:r>
              <a:rPr lang="en" sz="1900">
                <a:solidFill>
                  <a:schemeClr val="dk1"/>
                </a:solidFill>
              </a:rPr>
              <a:t>a potential collinearity, both presented</a:t>
            </a:r>
            <a:endParaRPr sz="1900">
              <a:solidFill>
                <a:schemeClr val="dk1"/>
              </a:solidFill>
            </a:endParaRPr>
          </a:p>
          <a:p>
            <a:pPr marL="0" lvl="0" indent="0" algn="l" rtl="0">
              <a:lnSpc>
                <a:spcPct val="90000"/>
              </a:lnSpc>
              <a:spcBef>
                <a:spcPts val="1000"/>
              </a:spcBef>
              <a:spcAft>
                <a:spcPts val="0"/>
              </a:spcAft>
              <a:buNone/>
            </a:pPr>
            <a:r>
              <a:rPr lang="en" sz="1900">
                <a:solidFill>
                  <a:schemeClr val="dk1"/>
                </a:solidFill>
              </a:rPr>
              <a:t>Positively skewed distribution.</a:t>
            </a: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Clr>
                <a:schemeClr val="dk1"/>
              </a:buClr>
              <a:buSzPct val="57894"/>
              <a:buFont typeface="Arial"/>
              <a:buNone/>
            </a:pPr>
            <a:endParaRPr sz="1900">
              <a:solidFill>
                <a:schemeClr val="dk1"/>
              </a:solidFill>
            </a:endParaRPr>
          </a:p>
          <a:p>
            <a:pPr marL="0" lvl="0" indent="0" algn="l" rtl="0">
              <a:lnSpc>
                <a:spcPct val="100000"/>
              </a:lnSpc>
              <a:spcBef>
                <a:spcPts val="0"/>
              </a:spcBef>
              <a:spcAft>
                <a:spcPts val="0"/>
              </a:spcAft>
              <a:buNone/>
            </a:pPr>
            <a:endParaRPr sz="1400">
              <a:solidFill>
                <a:srgbClr val="000000"/>
              </a:solidFill>
            </a:endParaRPr>
          </a:p>
          <a:p>
            <a:pPr marL="0" lvl="0" indent="0" algn="l" rtl="0">
              <a:spcBef>
                <a:spcPts val="0"/>
              </a:spcBef>
              <a:spcAft>
                <a:spcPts val="1200"/>
              </a:spcAft>
              <a:buNone/>
            </a:pPr>
            <a:endParaRPr/>
          </a:p>
        </p:txBody>
      </p:sp>
      <p:sp>
        <p:nvSpPr>
          <p:cNvPr id="103" name="Google Shape;103;p18"/>
          <p:cNvSpPr/>
          <p:nvPr/>
        </p:nvSpPr>
        <p:spPr>
          <a:xfrm>
            <a:off x="6943950" y="665425"/>
            <a:ext cx="1826400" cy="5064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Univariate Analysis</a:t>
            </a:r>
            <a:endParaRPr>
              <a:solidFill>
                <a:schemeClr val="dk1"/>
              </a:solidFill>
            </a:endParaRPr>
          </a:p>
          <a:p>
            <a:pPr marL="0" lvl="0" indent="0" algn="l" rtl="0">
              <a:spcBef>
                <a:spcPts val="0"/>
              </a:spcBef>
              <a:spcAft>
                <a:spcPts val="0"/>
              </a:spcAft>
              <a:buNone/>
            </a:pPr>
            <a:r>
              <a:rPr lang="en">
                <a:solidFill>
                  <a:schemeClr val="dk1"/>
                </a:solidFill>
              </a:rPr>
              <a:t>Histograms Plots</a:t>
            </a:r>
            <a:endParaRPr>
              <a:solidFill>
                <a:schemeClr val="dk1"/>
              </a:solidFill>
            </a:endParaRPr>
          </a:p>
        </p:txBody>
      </p:sp>
      <p:pic>
        <p:nvPicPr>
          <p:cNvPr id="104" name="Google Shape;104;p18"/>
          <p:cNvPicPr preferRelativeResize="0"/>
          <p:nvPr/>
        </p:nvPicPr>
        <p:blipFill>
          <a:blip r:embed="rId3">
            <a:alphaModFix/>
          </a:blip>
          <a:stretch>
            <a:fillRect/>
          </a:stretch>
        </p:blipFill>
        <p:spPr>
          <a:xfrm>
            <a:off x="4629938" y="1348225"/>
            <a:ext cx="2102000" cy="1223525"/>
          </a:xfrm>
          <a:prstGeom prst="rect">
            <a:avLst/>
          </a:prstGeom>
          <a:noFill/>
          <a:ln>
            <a:noFill/>
          </a:ln>
        </p:spPr>
      </p:pic>
      <p:sp>
        <p:nvSpPr>
          <p:cNvPr id="105" name="Google Shape;105;p18"/>
          <p:cNvSpPr/>
          <p:nvPr/>
        </p:nvSpPr>
        <p:spPr>
          <a:xfrm>
            <a:off x="49200" y="4587025"/>
            <a:ext cx="9045600" cy="50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9545"/>
              </a:lnSpc>
              <a:spcBef>
                <a:spcPts val="0"/>
              </a:spcBef>
              <a:spcAft>
                <a:spcPts val="0"/>
              </a:spcAft>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For other features, it was not possible to observe a clear distribution; further analysis is required.</a:t>
            </a:r>
            <a:endParaRPr>
              <a:solidFill>
                <a:schemeClr val="dk1"/>
              </a:solidFill>
            </a:endParaRPr>
          </a:p>
          <a:p>
            <a:pPr marL="0" lvl="0" indent="0" algn="l" rtl="0">
              <a:lnSpc>
                <a:spcPct val="129545"/>
              </a:lnSpc>
              <a:spcBef>
                <a:spcPts val="1200"/>
              </a:spcBef>
              <a:spcAft>
                <a:spcPts val="0"/>
              </a:spcAft>
              <a:buNone/>
            </a:pPr>
            <a:endParaRPr>
              <a:solidFill>
                <a:schemeClr val="dk1"/>
              </a:solidFill>
            </a:endParaRPr>
          </a:p>
          <a:p>
            <a:pPr marL="0" lvl="0" indent="0" algn="l" rtl="0">
              <a:lnSpc>
                <a:spcPct val="129545"/>
              </a:lnSpc>
              <a:spcBef>
                <a:spcPts val="0"/>
              </a:spcBef>
              <a:spcAft>
                <a:spcPts val="0"/>
              </a:spcAft>
              <a:buNone/>
            </a:pPr>
            <a:endParaRPr/>
          </a:p>
        </p:txBody>
      </p:sp>
      <p:pic>
        <p:nvPicPr>
          <p:cNvPr id="106" name="Google Shape;106;p18"/>
          <p:cNvPicPr preferRelativeResize="0"/>
          <p:nvPr/>
        </p:nvPicPr>
        <p:blipFill>
          <a:blip r:embed="rId4">
            <a:alphaModFix/>
          </a:blip>
          <a:stretch>
            <a:fillRect/>
          </a:stretch>
        </p:blipFill>
        <p:spPr>
          <a:xfrm>
            <a:off x="4689425" y="2633625"/>
            <a:ext cx="1983025" cy="1681475"/>
          </a:xfrm>
          <a:prstGeom prst="rect">
            <a:avLst/>
          </a:prstGeom>
          <a:noFill/>
          <a:ln>
            <a:noFill/>
          </a:ln>
        </p:spPr>
      </p:pic>
      <p:pic>
        <p:nvPicPr>
          <p:cNvPr id="107" name="Google Shape;107;p18"/>
          <p:cNvPicPr preferRelativeResize="0"/>
          <p:nvPr/>
        </p:nvPicPr>
        <p:blipFill>
          <a:blip r:embed="rId5">
            <a:alphaModFix/>
          </a:blip>
          <a:stretch>
            <a:fillRect/>
          </a:stretch>
        </p:blipFill>
        <p:spPr>
          <a:xfrm>
            <a:off x="6943944" y="2648510"/>
            <a:ext cx="1983025" cy="16517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a:spLocks noGrp="1"/>
          </p:cNvSpPr>
          <p:nvPr>
            <p:ph type="title"/>
          </p:nvPr>
        </p:nvSpPr>
        <p:spPr>
          <a:xfrm>
            <a:off x="256650" y="193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Correlation Analysis</a:t>
            </a:r>
            <a:endParaRPr/>
          </a:p>
        </p:txBody>
      </p:sp>
      <p:sp>
        <p:nvSpPr>
          <p:cNvPr id="113" name="Google Shape;113;p19"/>
          <p:cNvSpPr txBox="1">
            <a:spLocks noGrp="1"/>
          </p:cNvSpPr>
          <p:nvPr>
            <p:ph type="body" idx="1"/>
          </p:nvPr>
        </p:nvSpPr>
        <p:spPr>
          <a:xfrm>
            <a:off x="1200425" y="1322300"/>
            <a:ext cx="8520600" cy="34164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300">
              <a:solidFill>
                <a:schemeClr val="dk1"/>
              </a:solidFill>
            </a:endParaRPr>
          </a:p>
          <a:p>
            <a:pPr marL="0" lvl="0" indent="0" algn="l" rtl="0">
              <a:lnSpc>
                <a:spcPct val="90000"/>
              </a:lnSpc>
              <a:spcBef>
                <a:spcPts val="1000"/>
              </a:spcBef>
              <a:spcAft>
                <a:spcPts val="0"/>
              </a:spcAft>
              <a:buNone/>
            </a:pPr>
            <a:endParaRPr/>
          </a:p>
        </p:txBody>
      </p:sp>
      <p:sp>
        <p:nvSpPr>
          <p:cNvPr id="114" name="Google Shape;114;p19"/>
          <p:cNvSpPr/>
          <p:nvPr/>
        </p:nvSpPr>
        <p:spPr>
          <a:xfrm>
            <a:off x="7208350" y="-35100"/>
            <a:ext cx="1733700" cy="572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Bivariate Analysis</a:t>
            </a:r>
            <a:endParaRPr/>
          </a:p>
        </p:txBody>
      </p:sp>
      <p:pic>
        <p:nvPicPr>
          <p:cNvPr id="115" name="Google Shape;115;p19"/>
          <p:cNvPicPr preferRelativeResize="0"/>
          <p:nvPr/>
        </p:nvPicPr>
        <p:blipFill>
          <a:blip r:embed="rId3">
            <a:alphaModFix/>
          </a:blip>
          <a:stretch>
            <a:fillRect/>
          </a:stretch>
        </p:blipFill>
        <p:spPr>
          <a:xfrm>
            <a:off x="311700" y="851975"/>
            <a:ext cx="4650900" cy="3544800"/>
          </a:xfrm>
          <a:prstGeom prst="rect">
            <a:avLst/>
          </a:prstGeom>
          <a:noFill/>
          <a:ln>
            <a:noFill/>
          </a:ln>
        </p:spPr>
      </p:pic>
      <p:sp>
        <p:nvSpPr>
          <p:cNvPr id="116" name="Google Shape;116;p19"/>
          <p:cNvSpPr/>
          <p:nvPr/>
        </p:nvSpPr>
        <p:spPr>
          <a:xfrm>
            <a:off x="1775575" y="2287450"/>
            <a:ext cx="328800" cy="284400"/>
          </a:xfrm>
          <a:prstGeom prst="ellipse">
            <a:avLst/>
          </a:prstGeom>
          <a:no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500"/>
          </a:p>
        </p:txBody>
      </p:sp>
      <p:sp>
        <p:nvSpPr>
          <p:cNvPr id="117" name="Google Shape;117;p19"/>
          <p:cNvSpPr/>
          <p:nvPr/>
        </p:nvSpPr>
        <p:spPr>
          <a:xfrm>
            <a:off x="49200" y="4572775"/>
            <a:ext cx="9045600" cy="520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9545"/>
              </a:lnSpc>
              <a:spcBef>
                <a:spcPts val="0"/>
              </a:spcBef>
              <a:spcAft>
                <a:spcPts val="0"/>
              </a:spcAft>
              <a:buNone/>
            </a:pPr>
            <a:endParaRPr>
              <a:solidFill>
                <a:schemeClr val="dk1"/>
              </a:solidFill>
            </a:endParaRPr>
          </a:p>
          <a:p>
            <a:pPr marL="0" lvl="0" indent="0" algn="l" rtl="0">
              <a:lnSpc>
                <a:spcPct val="115000"/>
              </a:lnSpc>
              <a:spcBef>
                <a:spcPts val="1200"/>
              </a:spcBef>
              <a:spcAft>
                <a:spcPts val="0"/>
              </a:spcAft>
              <a:buNone/>
            </a:pPr>
            <a:r>
              <a:rPr lang="en">
                <a:solidFill>
                  <a:schemeClr val="dk1"/>
                </a:solidFill>
              </a:rPr>
              <a:t>Clear collinearity between sqft_above and sqft_living. </a:t>
            </a:r>
            <a:endParaRPr>
              <a:solidFill>
                <a:schemeClr val="dk1"/>
              </a:solidFill>
            </a:endParaRPr>
          </a:p>
          <a:p>
            <a:pPr marL="0" lvl="0" indent="0" algn="l" rtl="0">
              <a:lnSpc>
                <a:spcPct val="129545"/>
              </a:lnSpc>
              <a:spcBef>
                <a:spcPts val="1200"/>
              </a:spcBef>
              <a:spcAft>
                <a:spcPts val="0"/>
              </a:spcAft>
              <a:buNone/>
            </a:pPr>
            <a:endParaRPr/>
          </a:p>
        </p:txBody>
      </p:sp>
      <p:pic>
        <p:nvPicPr>
          <p:cNvPr id="118" name="Google Shape;118;p19"/>
          <p:cNvPicPr preferRelativeResize="0"/>
          <p:nvPr/>
        </p:nvPicPr>
        <p:blipFill rotWithShape="1">
          <a:blip r:embed="rId4">
            <a:alphaModFix/>
          </a:blip>
          <a:srcRect/>
          <a:stretch/>
        </p:blipFill>
        <p:spPr>
          <a:xfrm>
            <a:off x="5111572" y="721875"/>
            <a:ext cx="2922204" cy="36666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Feature Engineering</a:t>
            </a:r>
            <a:endParaRPr b="1"/>
          </a:p>
        </p:txBody>
      </p:sp>
      <p:sp>
        <p:nvSpPr>
          <p:cNvPr id="124" name="Google Shape;124;p20"/>
          <p:cNvSpPr txBox="1"/>
          <p:nvPr/>
        </p:nvSpPr>
        <p:spPr>
          <a:xfrm>
            <a:off x="715700" y="1352700"/>
            <a:ext cx="7927500" cy="3001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b="1">
                <a:solidFill>
                  <a:schemeClr val="dk1"/>
                </a:solidFill>
              </a:rPr>
              <a:t>Dropped Columns</a:t>
            </a:r>
            <a:r>
              <a:rPr lang="en" sz="1500">
                <a:solidFill>
                  <a:schemeClr val="dk1"/>
                </a:solidFill>
              </a:rPr>
              <a:t>:</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ID and Date: Removed because they do not help predict price.</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yr_built and yr_renovated: Dropped after extracting more meaningful features.</a:t>
            </a:r>
            <a:endParaRPr sz="1500">
              <a:solidFill>
                <a:schemeClr val="dk1"/>
              </a:solidFill>
            </a:endParaRPr>
          </a:p>
          <a:p>
            <a:pPr marL="0" lvl="0" indent="0" algn="l" rtl="0">
              <a:lnSpc>
                <a:spcPct val="115000"/>
              </a:lnSpc>
              <a:spcBef>
                <a:spcPts val="900"/>
              </a:spcBef>
              <a:spcAft>
                <a:spcPts val="0"/>
              </a:spcAft>
              <a:buNone/>
            </a:pPr>
            <a:r>
              <a:rPr lang="en" sz="1500" b="1">
                <a:solidFill>
                  <a:schemeClr val="dk1"/>
                </a:solidFill>
              </a:rPr>
              <a:t>Created New Features:</a:t>
            </a:r>
            <a:endParaRPr sz="1500" b="1">
              <a:solidFill>
                <a:schemeClr val="dk1"/>
              </a:solidFill>
            </a:endParaRPr>
          </a:p>
          <a:p>
            <a:pPr marL="457200" lvl="0" indent="-323850" algn="l" rtl="0">
              <a:lnSpc>
                <a:spcPct val="115000"/>
              </a:lnSpc>
              <a:spcBef>
                <a:spcPts val="900"/>
              </a:spcBef>
              <a:spcAft>
                <a:spcPts val="0"/>
              </a:spcAft>
              <a:buClr>
                <a:schemeClr val="dk1"/>
              </a:buClr>
              <a:buSzPts val="1500"/>
              <a:buChar char="●"/>
            </a:pPr>
            <a:r>
              <a:rPr lang="en" sz="1500">
                <a:solidFill>
                  <a:schemeClr val="dk1"/>
                </a:solidFill>
              </a:rPr>
              <a:t>Age: Computed from the year the house was built. Shows how old each house is.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Renovated: Binary feature (1 if renovated, 0 otherwise), based on renovation year.</a:t>
            </a:r>
            <a:endParaRPr sz="1500">
              <a:solidFill>
                <a:schemeClr val="dk1"/>
              </a:solidFill>
            </a:endParaRPr>
          </a:p>
          <a:p>
            <a:pPr marL="0" lvl="0" indent="0" algn="l" rtl="0">
              <a:lnSpc>
                <a:spcPct val="115000"/>
              </a:lnSpc>
              <a:spcBef>
                <a:spcPts val="900"/>
              </a:spcBef>
              <a:spcAft>
                <a:spcPts val="0"/>
              </a:spcAft>
              <a:buNone/>
            </a:pPr>
            <a:r>
              <a:rPr lang="en" sz="1500" b="1">
                <a:solidFill>
                  <a:schemeClr val="dk1"/>
                </a:solidFill>
              </a:rPr>
              <a:t>Purpose:</a:t>
            </a:r>
            <a:endParaRPr sz="1500" b="1">
              <a:solidFill>
                <a:schemeClr val="dk1"/>
              </a:solidFill>
            </a:endParaRPr>
          </a:p>
          <a:p>
            <a:pPr marL="457200" lvl="0" indent="-323850" algn="l" rtl="0">
              <a:lnSpc>
                <a:spcPct val="115000"/>
              </a:lnSpc>
              <a:spcBef>
                <a:spcPts val="900"/>
              </a:spcBef>
              <a:spcAft>
                <a:spcPts val="0"/>
              </a:spcAft>
              <a:buClr>
                <a:schemeClr val="dk1"/>
              </a:buClr>
              <a:buSzPts val="1500"/>
              <a:buChar char="●"/>
            </a:pPr>
            <a:r>
              <a:rPr lang="en" sz="1500">
                <a:solidFill>
                  <a:schemeClr val="dk1"/>
                </a:solidFill>
              </a:rPr>
              <a:t>Streamlined dataset by removing redundant and non-informative columns.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Enhanced model interpretability and predictive power using clearer, relevant features.</a:t>
            </a: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311700" y="275275"/>
            <a:ext cx="6703500" cy="506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Categories considered for Model Training</a:t>
            </a:r>
            <a:endParaRPr/>
          </a:p>
        </p:txBody>
      </p:sp>
      <p:sp>
        <p:nvSpPr>
          <p:cNvPr id="130" name="Google Shape;130;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300">
              <a:solidFill>
                <a:schemeClr val="dk1"/>
              </a:solidFill>
            </a:endParaRPr>
          </a:p>
          <a:p>
            <a:pPr marL="0" lvl="0" indent="0" algn="l" rtl="0">
              <a:lnSpc>
                <a:spcPct val="90000"/>
              </a:lnSpc>
              <a:spcBef>
                <a:spcPts val="1000"/>
              </a:spcBef>
              <a:spcAft>
                <a:spcPts val="0"/>
              </a:spcAft>
              <a:buNone/>
            </a:pPr>
            <a:endParaRPr/>
          </a:p>
        </p:txBody>
      </p:sp>
      <p:sp>
        <p:nvSpPr>
          <p:cNvPr id="131" name="Google Shape;131;p21"/>
          <p:cNvSpPr/>
          <p:nvPr/>
        </p:nvSpPr>
        <p:spPr>
          <a:xfrm>
            <a:off x="7317600" y="445025"/>
            <a:ext cx="1826400" cy="5064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Univariate Analysis</a:t>
            </a:r>
            <a:endParaRPr>
              <a:solidFill>
                <a:schemeClr val="dk1"/>
              </a:solidFill>
            </a:endParaRPr>
          </a:p>
          <a:p>
            <a:pPr marL="0" lvl="0" indent="0" algn="l" rtl="0">
              <a:spcBef>
                <a:spcPts val="0"/>
              </a:spcBef>
              <a:spcAft>
                <a:spcPts val="0"/>
              </a:spcAft>
              <a:buNone/>
            </a:pPr>
            <a:r>
              <a:rPr lang="en">
                <a:solidFill>
                  <a:schemeClr val="dk1"/>
                </a:solidFill>
              </a:rPr>
              <a:t>Histograms Plots</a:t>
            </a:r>
            <a:endParaRPr>
              <a:solidFill>
                <a:schemeClr val="dk1"/>
              </a:solidFill>
            </a:endParaRPr>
          </a:p>
        </p:txBody>
      </p:sp>
      <p:pic>
        <p:nvPicPr>
          <p:cNvPr id="132" name="Google Shape;132;p21"/>
          <p:cNvPicPr preferRelativeResize="0"/>
          <p:nvPr/>
        </p:nvPicPr>
        <p:blipFill rotWithShape="1">
          <a:blip r:embed="rId3">
            <a:alphaModFix/>
          </a:blip>
          <a:srcRect l="3550" t="3130" r="-3549" b="-3130"/>
          <a:stretch/>
        </p:blipFill>
        <p:spPr>
          <a:xfrm>
            <a:off x="3304900" y="947189"/>
            <a:ext cx="2214250" cy="1759836"/>
          </a:xfrm>
          <a:prstGeom prst="rect">
            <a:avLst/>
          </a:prstGeom>
          <a:noFill/>
          <a:ln>
            <a:noFill/>
          </a:ln>
        </p:spPr>
      </p:pic>
      <p:pic>
        <p:nvPicPr>
          <p:cNvPr id="133" name="Google Shape;133;p21"/>
          <p:cNvPicPr preferRelativeResize="0"/>
          <p:nvPr/>
        </p:nvPicPr>
        <p:blipFill>
          <a:blip r:embed="rId4">
            <a:alphaModFix/>
          </a:blip>
          <a:stretch>
            <a:fillRect/>
          </a:stretch>
        </p:blipFill>
        <p:spPr>
          <a:xfrm>
            <a:off x="533825" y="928150"/>
            <a:ext cx="2490425" cy="1759825"/>
          </a:xfrm>
          <a:prstGeom prst="rect">
            <a:avLst/>
          </a:prstGeom>
          <a:noFill/>
          <a:ln>
            <a:noFill/>
          </a:ln>
        </p:spPr>
      </p:pic>
      <p:pic>
        <p:nvPicPr>
          <p:cNvPr id="134" name="Google Shape;134;p21"/>
          <p:cNvPicPr preferRelativeResize="0"/>
          <p:nvPr/>
        </p:nvPicPr>
        <p:blipFill>
          <a:blip r:embed="rId5">
            <a:alphaModFix/>
          </a:blip>
          <a:stretch>
            <a:fillRect/>
          </a:stretch>
        </p:blipFill>
        <p:spPr>
          <a:xfrm>
            <a:off x="5741075" y="1030275"/>
            <a:ext cx="2093500" cy="1657700"/>
          </a:xfrm>
          <a:prstGeom prst="rect">
            <a:avLst/>
          </a:prstGeom>
          <a:noFill/>
          <a:ln>
            <a:noFill/>
          </a:ln>
        </p:spPr>
      </p:pic>
      <p:pic>
        <p:nvPicPr>
          <p:cNvPr id="135" name="Google Shape;135;p21"/>
          <p:cNvPicPr preferRelativeResize="0"/>
          <p:nvPr/>
        </p:nvPicPr>
        <p:blipFill>
          <a:blip r:embed="rId6">
            <a:alphaModFix/>
          </a:blip>
          <a:stretch>
            <a:fillRect/>
          </a:stretch>
        </p:blipFill>
        <p:spPr>
          <a:xfrm>
            <a:off x="1194375" y="2902082"/>
            <a:ext cx="1888600" cy="1623418"/>
          </a:xfrm>
          <a:prstGeom prst="rect">
            <a:avLst/>
          </a:prstGeom>
          <a:noFill/>
          <a:ln>
            <a:noFill/>
          </a:ln>
        </p:spPr>
      </p:pic>
      <p:pic>
        <p:nvPicPr>
          <p:cNvPr id="136" name="Google Shape;136;p21"/>
          <p:cNvPicPr preferRelativeResize="0"/>
          <p:nvPr/>
        </p:nvPicPr>
        <p:blipFill>
          <a:blip r:embed="rId7">
            <a:alphaModFix/>
          </a:blip>
          <a:stretch>
            <a:fillRect/>
          </a:stretch>
        </p:blipFill>
        <p:spPr>
          <a:xfrm>
            <a:off x="3500501" y="2936575"/>
            <a:ext cx="2818759" cy="1543163"/>
          </a:xfrm>
          <a:prstGeom prst="rect">
            <a:avLst/>
          </a:prstGeom>
          <a:noFill/>
          <a:ln>
            <a:noFill/>
          </a:ln>
        </p:spPr>
      </p:pic>
      <p:sp>
        <p:nvSpPr>
          <p:cNvPr id="137" name="Google Shape;137;p21"/>
          <p:cNvSpPr/>
          <p:nvPr/>
        </p:nvSpPr>
        <p:spPr>
          <a:xfrm>
            <a:off x="0" y="4525500"/>
            <a:ext cx="8976900" cy="605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9545"/>
              </a:lnSpc>
              <a:spcBef>
                <a:spcPts val="0"/>
              </a:spcBef>
              <a:spcAft>
                <a:spcPts val="0"/>
              </a:spcAft>
              <a:buNone/>
            </a:pPr>
            <a:endParaRPr>
              <a:solidFill>
                <a:schemeClr val="dk1"/>
              </a:solidFill>
            </a:endParaRPr>
          </a:p>
          <a:p>
            <a:pPr marL="0" lvl="0" indent="0" algn="l" rtl="0">
              <a:lnSpc>
                <a:spcPct val="115000"/>
              </a:lnSpc>
              <a:spcBef>
                <a:spcPts val="1200"/>
              </a:spcBef>
              <a:spcAft>
                <a:spcPts val="0"/>
              </a:spcAft>
              <a:buClr>
                <a:srgbClr val="000000"/>
              </a:buClr>
              <a:buSzPts val="1100"/>
              <a:buFont typeface="Arial"/>
              <a:buNone/>
            </a:pPr>
            <a:r>
              <a:rPr lang="en" sz="1200">
                <a:solidFill>
                  <a:schemeClr val="dk1"/>
                </a:solidFill>
                <a:latin typeface="Roboto"/>
                <a:ea typeface="Roboto"/>
                <a:cs typeface="Roboto"/>
                <a:sym typeface="Roboto"/>
              </a:rPr>
              <a:t>Features were classified as categorical based on their distinct, qualitative values, enabling appropriate data preprocessing in the analysis workflow.</a:t>
            </a:r>
            <a:endParaRPr>
              <a:solidFill>
                <a:schemeClr val="dk1"/>
              </a:solidFill>
            </a:endParaRPr>
          </a:p>
          <a:p>
            <a:pPr marL="0" lvl="0" indent="0" algn="l" rtl="0">
              <a:lnSpc>
                <a:spcPct val="129545"/>
              </a:lnSpc>
              <a:spcBef>
                <a:spcPts val="1200"/>
              </a:spcBef>
              <a:spcAft>
                <a:spcPts val="0"/>
              </a:spcAft>
              <a:buNone/>
            </a:pPr>
            <a:endParaRPr>
              <a:solidFill>
                <a:schemeClr val="dk1"/>
              </a:solidFill>
            </a:endParaRPr>
          </a:p>
          <a:p>
            <a:pPr marL="0" lvl="0" indent="0" algn="l" rtl="0">
              <a:lnSpc>
                <a:spcPct val="129545"/>
              </a:lnSpc>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311700" y="461651"/>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Data  Cleaning</a:t>
            </a:r>
            <a:endParaRPr/>
          </a:p>
        </p:txBody>
      </p:sp>
      <p:sp>
        <p:nvSpPr>
          <p:cNvPr id="143" name="Google Shape;143;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900">
              <a:solidFill>
                <a:schemeClr val="dk1"/>
              </a:solidFill>
            </a:endParaRPr>
          </a:p>
          <a:p>
            <a:pPr marL="0" lvl="0" indent="0" algn="l" rtl="0">
              <a:lnSpc>
                <a:spcPct val="90000"/>
              </a:lnSpc>
              <a:spcBef>
                <a:spcPts val="1000"/>
              </a:spcBef>
              <a:spcAft>
                <a:spcPts val="0"/>
              </a:spcAft>
              <a:buNone/>
            </a:pPr>
            <a:endParaRPr sz="1300">
              <a:solidFill>
                <a:schemeClr val="dk1"/>
              </a:solidFill>
            </a:endParaRPr>
          </a:p>
          <a:p>
            <a:pPr marL="0" lvl="0" indent="0" algn="l" rtl="0">
              <a:lnSpc>
                <a:spcPct val="90000"/>
              </a:lnSpc>
              <a:spcBef>
                <a:spcPts val="1000"/>
              </a:spcBef>
              <a:spcAft>
                <a:spcPts val="0"/>
              </a:spcAft>
              <a:buNone/>
            </a:pPr>
            <a:endParaRPr/>
          </a:p>
        </p:txBody>
      </p:sp>
      <p:sp>
        <p:nvSpPr>
          <p:cNvPr id="144" name="Google Shape;144;p22"/>
          <p:cNvSpPr/>
          <p:nvPr/>
        </p:nvSpPr>
        <p:spPr>
          <a:xfrm>
            <a:off x="7294850" y="674050"/>
            <a:ext cx="1656000" cy="7575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Data Encoding</a:t>
            </a:r>
            <a:endParaRPr>
              <a:solidFill>
                <a:schemeClr val="dk1"/>
              </a:solidFill>
            </a:endParaRPr>
          </a:p>
          <a:p>
            <a:pPr marL="0" lvl="0" indent="0" algn="l" rtl="0">
              <a:spcBef>
                <a:spcPts val="0"/>
              </a:spcBef>
              <a:spcAft>
                <a:spcPts val="0"/>
              </a:spcAft>
              <a:buNone/>
            </a:pPr>
            <a:r>
              <a:rPr lang="en">
                <a:solidFill>
                  <a:schemeClr val="dk1"/>
                </a:solidFill>
              </a:rPr>
              <a:t>Data Scaling</a:t>
            </a:r>
            <a:endParaRPr>
              <a:solidFill>
                <a:schemeClr val="dk1"/>
              </a:solidFill>
            </a:endParaRPr>
          </a:p>
        </p:txBody>
      </p:sp>
      <p:sp>
        <p:nvSpPr>
          <p:cNvPr id="145" name="Google Shape;145;p22"/>
          <p:cNvSpPr/>
          <p:nvPr/>
        </p:nvSpPr>
        <p:spPr>
          <a:xfrm>
            <a:off x="49200" y="4545759"/>
            <a:ext cx="9045600" cy="492795"/>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9545"/>
              </a:lnSpc>
              <a:spcBef>
                <a:spcPts val="0"/>
              </a:spcBef>
              <a:spcAft>
                <a:spcPts val="0"/>
              </a:spcAft>
              <a:buNone/>
            </a:pP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0"/>
              </a:spcAft>
              <a:buNone/>
            </a:pPr>
            <a:endParaRPr lang="en" dirty="0">
              <a:solidFill>
                <a:schemeClr val="dk1"/>
              </a:solidFill>
            </a:endParaRPr>
          </a:p>
          <a:p>
            <a:pPr marL="0" lvl="0" indent="0" algn="l" rtl="0">
              <a:lnSpc>
                <a:spcPct val="115000"/>
              </a:lnSpc>
              <a:spcBef>
                <a:spcPts val="1200"/>
              </a:spcBef>
              <a:spcAft>
                <a:spcPts val="0"/>
              </a:spcAft>
              <a:buNone/>
            </a:pPr>
            <a:endParaRPr lang="en" dirty="0">
              <a:solidFill>
                <a:schemeClr val="dk1"/>
              </a:solidFill>
            </a:endParaRPr>
          </a:p>
          <a:p>
            <a:pPr marL="0" lvl="0" indent="0" algn="l" rtl="0">
              <a:lnSpc>
                <a:spcPct val="115000"/>
              </a:lnSpc>
              <a:spcBef>
                <a:spcPts val="1200"/>
              </a:spcBef>
              <a:spcAft>
                <a:spcPts val="0"/>
              </a:spcAft>
              <a:buNone/>
            </a:pPr>
            <a:r>
              <a:rPr lang="en" dirty="0">
                <a:solidFill>
                  <a:schemeClr val="dk1"/>
                </a:solidFill>
              </a:rPr>
              <a:t>Outliers were tapped, Removed Duplicate ID </a:t>
            </a: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29545"/>
              </a:lnSpc>
              <a:spcBef>
                <a:spcPts val="1200"/>
              </a:spcBef>
              <a:spcAft>
                <a:spcPts val="0"/>
              </a:spcAft>
              <a:buNone/>
            </a:pPr>
            <a:endParaRPr dirty="0">
              <a:solidFill>
                <a:schemeClr val="dk1"/>
              </a:solidFill>
            </a:endParaRPr>
          </a:p>
          <a:p>
            <a:pPr marL="0" lvl="0" indent="0" algn="l" rtl="0">
              <a:lnSpc>
                <a:spcPct val="129545"/>
              </a:lnSpc>
              <a:spcBef>
                <a:spcPts val="0"/>
              </a:spcBef>
              <a:spcAft>
                <a:spcPts val="0"/>
              </a:spcAft>
              <a:buNone/>
            </a:pPr>
            <a:endParaRPr dirty="0"/>
          </a:p>
        </p:txBody>
      </p:sp>
      <p:pic>
        <p:nvPicPr>
          <p:cNvPr id="146" name="Google Shape;146;p22"/>
          <p:cNvPicPr preferRelativeResize="0"/>
          <p:nvPr/>
        </p:nvPicPr>
        <p:blipFill>
          <a:blip r:embed="rId3">
            <a:alphaModFix/>
          </a:blip>
          <a:stretch>
            <a:fillRect/>
          </a:stretch>
        </p:blipFill>
        <p:spPr>
          <a:xfrm>
            <a:off x="170775" y="1303613"/>
            <a:ext cx="5791200" cy="2266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110075" y="1383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 Performance</a:t>
            </a:r>
            <a:endParaRPr/>
          </a:p>
        </p:txBody>
      </p:sp>
      <p:pic>
        <p:nvPicPr>
          <p:cNvPr id="152" name="Google Shape;152;p23"/>
          <p:cNvPicPr preferRelativeResize="0"/>
          <p:nvPr/>
        </p:nvPicPr>
        <p:blipFill rotWithShape="1">
          <a:blip r:embed="rId3">
            <a:alphaModFix/>
          </a:blip>
          <a:srcRect t="4310" b="-4310"/>
          <a:stretch/>
        </p:blipFill>
        <p:spPr>
          <a:xfrm>
            <a:off x="440400" y="931850"/>
            <a:ext cx="6467480" cy="2886537"/>
          </a:xfrm>
          <a:prstGeom prst="rect">
            <a:avLst/>
          </a:prstGeom>
          <a:noFill/>
          <a:ln w="9525" cap="flat" cmpd="sng">
            <a:solidFill>
              <a:schemeClr val="dk1"/>
            </a:solidFill>
            <a:prstDash val="solid"/>
            <a:round/>
            <a:headEnd type="none" w="sm" len="sm"/>
            <a:tailEnd type="none" w="sm" len="sm"/>
          </a:ln>
        </p:spPr>
      </p:pic>
      <p:sp>
        <p:nvSpPr>
          <p:cNvPr id="153" name="Google Shape;153;p23"/>
          <p:cNvSpPr txBox="1"/>
          <p:nvPr/>
        </p:nvSpPr>
        <p:spPr>
          <a:xfrm>
            <a:off x="110075" y="3972625"/>
            <a:ext cx="8722200" cy="10989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For the given regression task, XGBoost tuned with GridSearch should be preferred as the best model, closely followed by Random Forest.​</a:t>
            </a:r>
            <a:endParaRPr sz="1200">
              <a:solidFill>
                <a:schemeClr val="dk1"/>
              </a:solidFill>
              <a:latin typeface="Roboto"/>
              <a:ea typeface="Roboto"/>
              <a:cs typeface="Roboto"/>
              <a:sym typeface="Roboto"/>
            </a:endParaRPr>
          </a:p>
          <a:p>
            <a:pPr marL="45720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Simpler models like Linear Regression may be easier to explain but are less performant on complex data.</a:t>
            </a:r>
            <a:endParaRPr sz="1200">
              <a:solidFill>
                <a:schemeClr val="dk1"/>
              </a:solidFill>
              <a:latin typeface="Roboto"/>
              <a:ea typeface="Roboto"/>
              <a:cs typeface="Roboto"/>
              <a:sym typeface="Roboto"/>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a:spLocks noGrp="1"/>
          </p:cNvSpPr>
          <p:nvPr>
            <p:ph type="title"/>
          </p:nvPr>
        </p:nvSpPr>
        <p:spPr>
          <a:xfrm>
            <a:off x="110075" y="1383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 Performance</a:t>
            </a:r>
            <a:endParaRPr/>
          </a:p>
        </p:txBody>
      </p:sp>
      <p:pic>
        <p:nvPicPr>
          <p:cNvPr id="159" name="Google Shape;159;p24"/>
          <p:cNvPicPr preferRelativeResize="0"/>
          <p:nvPr/>
        </p:nvPicPr>
        <p:blipFill>
          <a:blip r:embed="rId3">
            <a:alphaModFix/>
          </a:blip>
          <a:stretch>
            <a:fillRect/>
          </a:stretch>
        </p:blipFill>
        <p:spPr>
          <a:xfrm>
            <a:off x="1481600" y="849375"/>
            <a:ext cx="6233651" cy="40124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HyperParameter Tuning with GridSearch </a:t>
            </a:r>
            <a:endParaRPr/>
          </a:p>
        </p:txBody>
      </p:sp>
      <p:pic>
        <p:nvPicPr>
          <p:cNvPr id="165" name="Google Shape;165;p25"/>
          <p:cNvPicPr preferRelativeResize="0"/>
          <p:nvPr/>
        </p:nvPicPr>
        <p:blipFill rotWithShape="1">
          <a:blip r:embed="rId3">
            <a:alphaModFix/>
          </a:blip>
          <a:srcRect t="4170" b="-4170"/>
          <a:stretch/>
        </p:blipFill>
        <p:spPr>
          <a:xfrm>
            <a:off x="479750" y="1083350"/>
            <a:ext cx="8059351" cy="3533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Best Parameters Tuning with GridSearch </a:t>
            </a:r>
            <a:endParaRPr/>
          </a:p>
        </p:txBody>
      </p:sp>
      <p:pic>
        <p:nvPicPr>
          <p:cNvPr id="171" name="Google Shape;171;p26"/>
          <p:cNvPicPr preferRelativeResize="0"/>
          <p:nvPr/>
        </p:nvPicPr>
        <p:blipFill rotWithShape="1">
          <a:blip r:embed="rId3">
            <a:alphaModFix/>
          </a:blip>
          <a:srcRect l="1700" t="3909" r="-1700" b="-3909"/>
          <a:stretch/>
        </p:blipFill>
        <p:spPr>
          <a:xfrm>
            <a:off x="1387175" y="1193700"/>
            <a:ext cx="6025686"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txBox="1">
            <a:spLocks noGrp="1"/>
          </p:cNvSpPr>
          <p:nvPr>
            <p:ph type="title"/>
          </p:nvPr>
        </p:nvSpPr>
        <p:spPr>
          <a:xfrm>
            <a:off x="358900" y="1540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Feature Importance</a:t>
            </a:r>
            <a:endParaRPr/>
          </a:p>
        </p:txBody>
      </p:sp>
      <p:sp>
        <p:nvSpPr>
          <p:cNvPr id="177" name="Google Shape;177;p27"/>
          <p:cNvSpPr/>
          <p:nvPr/>
        </p:nvSpPr>
        <p:spPr>
          <a:xfrm>
            <a:off x="0" y="4396625"/>
            <a:ext cx="8976900" cy="734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29545"/>
              </a:lnSpc>
              <a:spcBef>
                <a:spcPts val="0"/>
              </a:spcBef>
              <a:spcAft>
                <a:spcPts val="0"/>
              </a:spcAft>
              <a:buNone/>
            </a:pPr>
            <a:endParaRPr>
              <a:solidFill>
                <a:schemeClr val="dk1"/>
              </a:solidFill>
            </a:endParaRPr>
          </a:p>
          <a:p>
            <a:pPr marL="0" lvl="0" indent="0" algn="l" rtl="0">
              <a:lnSpc>
                <a:spcPct val="115000"/>
              </a:lnSpc>
              <a:spcBef>
                <a:spcPts val="1200"/>
              </a:spcBef>
              <a:spcAft>
                <a:spcPts val="0"/>
              </a:spcAft>
              <a:buClr>
                <a:srgbClr val="000000"/>
              </a:buClr>
              <a:buSzPts val="1100"/>
              <a:buFont typeface="Arial"/>
              <a:buNone/>
            </a:pPr>
            <a:r>
              <a:rPr lang="en" sz="1200">
                <a:solidFill>
                  <a:schemeClr val="dk1"/>
                </a:solidFill>
                <a:latin typeface="Roboto"/>
                <a:ea typeface="Roboto"/>
                <a:cs typeface="Roboto"/>
                <a:sym typeface="Roboto"/>
              </a:rPr>
              <a:t>These is the list of features that we included in our models,  here we are able to see which ponderation have each feature:  grade, lat and sqft_living are the more significant ones.</a:t>
            </a:r>
            <a:endParaRPr>
              <a:solidFill>
                <a:schemeClr val="dk1"/>
              </a:solidFill>
            </a:endParaRPr>
          </a:p>
          <a:p>
            <a:pPr marL="0" lvl="0" indent="0" algn="l" rtl="0">
              <a:lnSpc>
                <a:spcPct val="129545"/>
              </a:lnSpc>
              <a:spcBef>
                <a:spcPts val="1200"/>
              </a:spcBef>
              <a:spcAft>
                <a:spcPts val="0"/>
              </a:spcAft>
              <a:buNone/>
            </a:pPr>
            <a:endParaRPr>
              <a:solidFill>
                <a:schemeClr val="dk1"/>
              </a:solidFill>
            </a:endParaRPr>
          </a:p>
          <a:p>
            <a:pPr marL="0" lvl="0" indent="0" algn="l" rtl="0">
              <a:lnSpc>
                <a:spcPct val="129545"/>
              </a:lnSpc>
              <a:spcBef>
                <a:spcPts val="0"/>
              </a:spcBef>
              <a:spcAft>
                <a:spcPts val="0"/>
              </a:spcAft>
              <a:buNone/>
            </a:pPr>
            <a:endParaRPr/>
          </a:p>
        </p:txBody>
      </p:sp>
      <p:pic>
        <p:nvPicPr>
          <p:cNvPr id="178" name="Google Shape;178;p27"/>
          <p:cNvPicPr preferRelativeResize="0"/>
          <p:nvPr/>
        </p:nvPicPr>
        <p:blipFill>
          <a:blip r:embed="rId3">
            <a:alphaModFix/>
          </a:blip>
          <a:stretch>
            <a:fillRect/>
          </a:stretch>
        </p:blipFill>
        <p:spPr>
          <a:xfrm>
            <a:off x="1572925" y="772850"/>
            <a:ext cx="6197375" cy="3514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Teamwork &amp; Project Management</a:t>
            </a:r>
            <a:endParaRPr/>
          </a:p>
        </p:txBody>
      </p:sp>
      <p:sp>
        <p:nvSpPr>
          <p:cNvPr id="184" name="Google Shape;18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a:solidFill>
                  <a:schemeClr val="dk1"/>
                </a:solidFill>
              </a:rPr>
              <a:t>We thoroughly reviewed the data and conducted group discussions to share new findings and relevant insights for the next steps. We clarified questions with the coordinators and consolidated our conclusions to summarize them in the final presentation.</a:t>
            </a:r>
            <a:endParaRPr sz="1600">
              <a:solidFill>
                <a:schemeClr val="dk1"/>
              </a:solidFill>
            </a:endParaRPr>
          </a:p>
        </p:txBody>
      </p:sp>
      <p:pic>
        <p:nvPicPr>
          <p:cNvPr id="185" name="Google Shape;185;p28"/>
          <p:cNvPicPr preferRelativeResize="0"/>
          <p:nvPr/>
        </p:nvPicPr>
        <p:blipFill>
          <a:blip r:embed="rId3">
            <a:alphaModFix/>
          </a:blip>
          <a:stretch>
            <a:fillRect/>
          </a:stretch>
        </p:blipFill>
        <p:spPr>
          <a:xfrm>
            <a:off x="5028425" y="2313425"/>
            <a:ext cx="3739800" cy="2319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2500" b="1"/>
              <a:t>Key Learnings &amp; Takeaways</a:t>
            </a:r>
            <a:endParaRPr sz="2500" b="1"/>
          </a:p>
          <a:p>
            <a:pPr marL="0" lvl="0" indent="0" algn="l" rtl="0">
              <a:spcBef>
                <a:spcPts val="400"/>
              </a:spcBef>
              <a:spcAft>
                <a:spcPts val="0"/>
              </a:spcAft>
              <a:buNone/>
            </a:pPr>
            <a:endParaRPr sz="2000" b="1">
              <a:highlight>
                <a:srgbClr val="FFFFFF"/>
              </a:highlight>
            </a:endParaRPr>
          </a:p>
        </p:txBody>
      </p:sp>
      <p:sp>
        <p:nvSpPr>
          <p:cNvPr id="191" name="Google Shape;191;p29"/>
          <p:cNvSpPr txBox="1">
            <a:spLocks noGrp="1"/>
          </p:cNvSpPr>
          <p:nvPr>
            <p:ph type="body" idx="1"/>
          </p:nvPr>
        </p:nvSpPr>
        <p:spPr>
          <a:xfrm>
            <a:off x="0" y="1409850"/>
            <a:ext cx="8520600" cy="2323800"/>
          </a:xfrm>
          <a:prstGeom prst="rect">
            <a:avLst/>
          </a:prstGeom>
        </p:spPr>
        <p:txBody>
          <a:bodyPr spcFirstLastPara="1" wrap="square" lIns="91425" tIns="91425" rIns="91425" bIns="91425" anchor="t" anchorCtr="0">
            <a:normAutofit fontScale="25000" lnSpcReduction="20000"/>
          </a:bodyPr>
          <a:lstStyle/>
          <a:p>
            <a:pPr marL="0" lvl="0" indent="0" algn="l" rtl="0">
              <a:spcBef>
                <a:spcPts val="1800"/>
              </a:spcBef>
              <a:spcAft>
                <a:spcPts val="0"/>
              </a:spcAft>
              <a:buClr>
                <a:schemeClr val="dk1"/>
              </a:buClr>
              <a:buSzPct val="44000"/>
              <a:buFont typeface="Arial"/>
              <a:buNone/>
            </a:pPr>
            <a:r>
              <a:rPr lang="en" sz="2500" b="1">
                <a:solidFill>
                  <a:schemeClr val="dk1"/>
                </a:solidFill>
              </a:rPr>
              <a:t> </a:t>
            </a:r>
            <a:endParaRPr sz="2500" b="1">
              <a:solidFill>
                <a:schemeClr val="dk1"/>
              </a:solidFill>
            </a:endParaRPr>
          </a:p>
          <a:p>
            <a:pPr marL="0" lvl="0" indent="457200" algn="l" rtl="0">
              <a:spcBef>
                <a:spcPts val="1200"/>
              </a:spcBef>
              <a:spcAft>
                <a:spcPts val="0"/>
              </a:spcAft>
              <a:buNone/>
            </a:pPr>
            <a:r>
              <a:rPr lang="en" sz="5075" b="1">
                <a:solidFill>
                  <a:schemeClr val="dk1"/>
                </a:solidFill>
              </a:rPr>
              <a:t>Data preprocessing is crucial.</a:t>
            </a:r>
            <a:r>
              <a:rPr lang="en" sz="5075">
                <a:solidFill>
                  <a:schemeClr val="dk1"/>
                </a:solidFill>
              </a:rPr>
              <a:t> Cleaning and encoding decisions directly influence predictive stability.</a:t>
            </a:r>
            <a:br>
              <a:rPr lang="en" sz="5075">
                <a:solidFill>
                  <a:schemeClr val="dk1"/>
                </a:solidFill>
              </a:rPr>
            </a:br>
            <a:endParaRPr sz="5075">
              <a:solidFill>
                <a:schemeClr val="dk1"/>
              </a:solidFill>
            </a:endParaRPr>
          </a:p>
          <a:p>
            <a:pPr marL="457200" lvl="0" indent="0" algn="l" rtl="0">
              <a:spcBef>
                <a:spcPts val="1200"/>
              </a:spcBef>
              <a:spcAft>
                <a:spcPts val="0"/>
              </a:spcAft>
              <a:buNone/>
            </a:pPr>
            <a:r>
              <a:rPr lang="en" sz="5075" b="1">
                <a:solidFill>
                  <a:schemeClr val="dk1"/>
                </a:solidFill>
              </a:rPr>
              <a:t>Non-linear models outperform linear ones</a:t>
            </a:r>
            <a:r>
              <a:rPr lang="en" sz="5075">
                <a:solidFill>
                  <a:schemeClr val="dk1"/>
                </a:solidFill>
              </a:rPr>
              <a:t> in complex, datasets like housing markets.</a:t>
            </a:r>
            <a:br>
              <a:rPr lang="en" sz="5075">
                <a:solidFill>
                  <a:schemeClr val="dk1"/>
                </a:solidFill>
              </a:rPr>
            </a:br>
            <a:endParaRPr sz="5200">
              <a:solidFill>
                <a:schemeClr val="dk1"/>
              </a:solidFill>
            </a:endParaRPr>
          </a:p>
          <a:p>
            <a:pPr marL="457200" lvl="0" indent="0" algn="l" rtl="0">
              <a:spcBef>
                <a:spcPts val="1200"/>
              </a:spcBef>
              <a:spcAft>
                <a:spcPts val="0"/>
              </a:spcAft>
              <a:buNone/>
            </a:pPr>
            <a:r>
              <a:rPr lang="en" sz="5075" b="1">
                <a:solidFill>
                  <a:schemeClr val="dk1"/>
                </a:solidFill>
              </a:rPr>
              <a:t>Evaluation across multiple metrics</a:t>
            </a:r>
            <a:r>
              <a:rPr lang="en" sz="5075">
                <a:solidFill>
                  <a:schemeClr val="dk1"/>
                </a:solidFill>
              </a:rPr>
              <a:t> (R², RMSE, MAPE) gives a fuller picture of model reliability.</a:t>
            </a:r>
            <a:br>
              <a:rPr lang="en" sz="5075">
                <a:solidFill>
                  <a:schemeClr val="dk1"/>
                </a:solidFill>
              </a:rPr>
            </a:br>
            <a:endParaRPr sz="5075">
              <a:solidFill>
                <a:schemeClr val="dk1"/>
              </a:solidFill>
            </a:endParaRPr>
          </a:p>
          <a:p>
            <a:pPr marL="0" lvl="0" indent="0" algn="l" rtl="0">
              <a:spcBef>
                <a:spcPts val="1200"/>
              </a:spcBef>
              <a:spcAft>
                <a:spcPts val="0"/>
              </a:spcAft>
              <a:buNone/>
            </a:pPr>
            <a:endParaRPr sz="4275"/>
          </a:p>
          <a:p>
            <a:pPr marL="0" lvl="0" indent="0" algn="l" rtl="0">
              <a:spcBef>
                <a:spcPts val="1200"/>
              </a:spcBef>
              <a:spcAft>
                <a:spcPts val="0"/>
              </a:spcAft>
              <a:buNone/>
            </a:pPr>
            <a:endParaRPr sz="1700"/>
          </a:p>
          <a:p>
            <a:pPr marL="0" lvl="0" indent="0" algn="l" rtl="0">
              <a:spcBef>
                <a:spcPts val="1200"/>
              </a:spcBef>
              <a:spcAft>
                <a:spcPts val="0"/>
              </a:spcAft>
              <a:buNone/>
            </a:pPr>
            <a:endParaRPr sz="1700"/>
          </a:p>
          <a:p>
            <a:pPr marL="0" lvl="0" indent="0" algn="l" rtl="0">
              <a:spcBef>
                <a:spcPts val="1200"/>
              </a:spcBef>
              <a:spcAft>
                <a:spcPts val="1200"/>
              </a:spcAft>
              <a:buNone/>
            </a:pP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Major Obstacle</a:t>
            </a:r>
            <a:endParaRPr/>
          </a:p>
        </p:txBody>
      </p:sp>
      <p:sp>
        <p:nvSpPr>
          <p:cNvPr id="197" name="Google Shape;197;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300"/>
          </a:p>
          <a:p>
            <a:pPr marL="0" lvl="0" indent="0" algn="l" rtl="0">
              <a:spcBef>
                <a:spcPts val="1200"/>
              </a:spcBef>
              <a:spcAft>
                <a:spcPts val="0"/>
              </a:spcAft>
              <a:buClr>
                <a:schemeClr val="dk1"/>
              </a:buClr>
              <a:buSzPts val="1100"/>
              <a:buFont typeface="Arial"/>
              <a:buNone/>
            </a:pPr>
            <a:r>
              <a:rPr lang="en" sz="1300">
                <a:solidFill>
                  <a:schemeClr val="dk1"/>
                </a:solidFill>
              </a:rPr>
              <a:t>Handling </a:t>
            </a:r>
            <a:r>
              <a:rPr lang="en" sz="1300" b="1">
                <a:solidFill>
                  <a:schemeClr val="dk1"/>
                </a:solidFill>
              </a:rPr>
              <a:t>highly skewed distributions</a:t>
            </a:r>
            <a:r>
              <a:rPr lang="en" sz="1300">
                <a:solidFill>
                  <a:schemeClr val="dk1"/>
                </a:solidFill>
              </a:rPr>
              <a:t> (e.g. price, lot size) without discarding real luxury homes.</a:t>
            </a:r>
            <a:br>
              <a:rPr lang="en" sz="1300">
                <a:solidFill>
                  <a:schemeClr val="dk1"/>
                </a:solidFill>
              </a:rPr>
            </a:br>
            <a:endParaRPr sz="1300">
              <a:solidFill>
                <a:schemeClr val="dk1"/>
              </a:solidFill>
            </a:endParaRPr>
          </a:p>
          <a:p>
            <a:pPr marL="0" lvl="0" indent="0" algn="l" rtl="0">
              <a:spcBef>
                <a:spcPts val="1200"/>
              </a:spcBef>
              <a:spcAft>
                <a:spcPts val="0"/>
              </a:spcAft>
              <a:buClr>
                <a:schemeClr val="dk1"/>
              </a:buClr>
              <a:buSzPts val="1100"/>
              <a:buFont typeface="Arial"/>
              <a:buNone/>
            </a:pPr>
            <a:r>
              <a:rPr lang="en" sz="1300">
                <a:solidFill>
                  <a:schemeClr val="dk1"/>
                </a:solidFill>
              </a:rPr>
              <a:t>Managing </a:t>
            </a:r>
            <a:r>
              <a:rPr lang="en" sz="1300" b="1">
                <a:solidFill>
                  <a:schemeClr val="dk1"/>
                </a:solidFill>
              </a:rPr>
              <a:t>geographical variance</a:t>
            </a:r>
            <a:r>
              <a:rPr lang="en" sz="1300">
                <a:solidFill>
                  <a:schemeClr val="dk1"/>
                </a:solidFill>
              </a:rPr>
              <a:t> — same sqft may mean very different prices across ZIP codes.</a:t>
            </a:r>
            <a:br>
              <a:rPr lang="en" sz="1300">
                <a:solidFill>
                  <a:schemeClr val="dk1"/>
                </a:solidFill>
              </a:rPr>
            </a:br>
            <a:endParaRPr sz="1300">
              <a:solidFill>
                <a:schemeClr val="dk1"/>
              </a:solidFill>
            </a:endParaRPr>
          </a:p>
          <a:p>
            <a:pPr marL="0" lvl="0" indent="0" algn="l" rtl="0">
              <a:spcBef>
                <a:spcPts val="1200"/>
              </a:spcBef>
              <a:spcAft>
                <a:spcPts val="0"/>
              </a:spcAft>
              <a:buClr>
                <a:schemeClr val="dk1"/>
              </a:buClr>
              <a:buSzPts val="1100"/>
              <a:buFont typeface="Arial"/>
              <a:buNone/>
            </a:pPr>
            <a:r>
              <a:rPr lang="en" sz="1300">
                <a:solidFill>
                  <a:schemeClr val="dk1"/>
                </a:solidFill>
              </a:rPr>
              <a:t>Preventing </a:t>
            </a:r>
            <a:r>
              <a:rPr lang="en" sz="1300" b="1">
                <a:solidFill>
                  <a:schemeClr val="dk1"/>
                </a:solidFill>
              </a:rPr>
              <a:t>overfitting</a:t>
            </a:r>
            <a:r>
              <a:rPr lang="en" sz="1300">
                <a:solidFill>
                  <a:schemeClr val="dk1"/>
                </a:solidFill>
              </a:rPr>
              <a:t> in high-capacity models (solved via tuning).</a:t>
            </a:r>
            <a:br>
              <a:rPr lang="en" sz="1300">
                <a:solidFill>
                  <a:schemeClr val="dk1"/>
                </a:solidFill>
              </a:rPr>
            </a:br>
            <a:endParaRPr sz="1300">
              <a:solidFill>
                <a:schemeClr val="dk1"/>
              </a:solidFill>
            </a:endParaRPr>
          </a:p>
          <a:p>
            <a:pPr marL="0" lvl="0" indent="0" algn="l" rtl="0">
              <a:spcBef>
                <a:spcPts val="1200"/>
              </a:spcBef>
              <a:spcAft>
                <a:spcPts val="0"/>
              </a:spcAft>
              <a:buClr>
                <a:schemeClr val="dk1"/>
              </a:buClr>
              <a:buSzPts val="1100"/>
              <a:buFont typeface="Arial"/>
              <a:buNone/>
            </a:pPr>
            <a:r>
              <a:rPr lang="en" sz="1300">
                <a:solidFill>
                  <a:schemeClr val="dk1"/>
                </a:solidFill>
              </a:rPr>
              <a:t>Ensuring </a:t>
            </a:r>
            <a:r>
              <a:rPr lang="en" sz="1300" b="1">
                <a:solidFill>
                  <a:schemeClr val="dk1"/>
                </a:solidFill>
              </a:rPr>
              <a:t>scalability and interpretability</a:t>
            </a:r>
            <a:r>
              <a:rPr lang="en" sz="1300">
                <a:solidFill>
                  <a:schemeClr val="dk1"/>
                </a:solidFill>
              </a:rPr>
              <a:t> for future deployment</a:t>
            </a:r>
            <a:endParaRPr sz="13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Conclusion and Insights</a:t>
            </a:r>
            <a:endParaRPr/>
          </a:p>
        </p:txBody>
      </p:sp>
      <p:sp>
        <p:nvSpPr>
          <p:cNvPr id="203" name="Google Shape;203;p31"/>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rmAutofit fontScale="62500" lnSpcReduction="10000"/>
          </a:bodyPr>
          <a:lstStyle/>
          <a:p>
            <a:pPr marL="0" lvl="0" indent="0" algn="l" rtl="0">
              <a:spcBef>
                <a:spcPts val="1200"/>
              </a:spcBef>
              <a:spcAft>
                <a:spcPts val="0"/>
              </a:spcAft>
              <a:buClr>
                <a:schemeClr val="dk1"/>
              </a:buClr>
              <a:buSzPct val="55000"/>
              <a:buFont typeface="Arial"/>
              <a:buNone/>
            </a:pPr>
            <a:r>
              <a:rPr lang="en" sz="2000">
                <a:solidFill>
                  <a:schemeClr val="dk1"/>
                </a:solidFill>
              </a:rPr>
              <a:t>This project aimed to predict </a:t>
            </a:r>
            <a:r>
              <a:rPr lang="en" sz="2000" b="1">
                <a:solidFill>
                  <a:schemeClr val="dk1"/>
                </a:solidFill>
              </a:rPr>
              <a:t>house sale prices</a:t>
            </a:r>
            <a:r>
              <a:rPr lang="en" sz="2000">
                <a:solidFill>
                  <a:schemeClr val="dk1"/>
                </a:solidFill>
              </a:rPr>
              <a:t> using various features from the </a:t>
            </a:r>
            <a:r>
              <a:rPr lang="en" sz="2000" b="1">
                <a:solidFill>
                  <a:schemeClr val="dk1"/>
                </a:solidFill>
              </a:rPr>
              <a:t>King County dataset</a:t>
            </a:r>
            <a:r>
              <a:rPr lang="en" sz="2000">
                <a:solidFill>
                  <a:schemeClr val="dk1"/>
                </a:solidFill>
              </a:rPr>
              <a:t>, such as number of bedrooms/bathrooms, total living area, lot size, location, and more.</a:t>
            </a:r>
            <a:br>
              <a:rPr lang="en" sz="2000">
                <a:solidFill>
                  <a:schemeClr val="dk1"/>
                </a:solidFill>
              </a:rPr>
            </a:br>
            <a:r>
              <a:rPr lang="en" sz="2000">
                <a:solidFill>
                  <a:schemeClr val="dk1"/>
                </a:solidFill>
              </a:rPr>
              <a:t>We compared multiple models - from simple Linear Regression to advanced ensemble methods like </a:t>
            </a:r>
            <a:r>
              <a:rPr lang="en" sz="2000" b="1">
                <a:solidFill>
                  <a:schemeClr val="dk1"/>
                </a:solidFill>
              </a:rPr>
              <a:t>Random Forest</a:t>
            </a:r>
            <a:r>
              <a:rPr lang="en" sz="2000">
                <a:solidFill>
                  <a:schemeClr val="dk1"/>
                </a:solidFill>
              </a:rPr>
              <a:t>, </a:t>
            </a:r>
            <a:r>
              <a:rPr lang="en" sz="2000" b="1">
                <a:solidFill>
                  <a:schemeClr val="dk1"/>
                </a:solidFill>
              </a:rPr>
              <a:t>AdaBoost</a:t>
            </a:r>
            <a:r>
              <a:rPr lang="en" sz="2000">
                <a:solidFill>
                  <a:schemeClr val="dk1"/>
                </a:solidFill>
              </a:rPr>
              <a:t>, and </a:t>
            </a:r>
            <a:r>
              <a:rPr lang="en" sz="2000" b="1">
                <a:solidFill>
                  <a:schemeClr val="dk1"/>
                </a:solidFill>
              </a:rPr>
              <a:t>XGBoost</a:t>
            </a:r>
            <a:r>
              <a:rPr lang="en" sz="2000">
                <a:solidFill>
                  <a:schemeClr val="dk1"/>
                </a:solidFill>
              </a:rPr>
              <a:t> - both </a:t>
            </a:r>
            <a:r>
              <a:rPr lang="en" sz="2000" b="1">
                <a:solidFill>
                  <a:schemeClr val="dk1"/>
                </a:solidFill>
              </a:rPr>
              <a:t>before and after data cleaning and feature processing</a:t>
            </a:r>
            <a:r>
              <a:rPr lang="en" sz="2000">
                <a:solidFill>
                  <a:schemeClr val="dk1"/>
                </a:solidFill>
              </a:rPr>
              <a:t>.</a:t>
            </a:r>
            <a:endParaRPr sz="2000">
              <a:solidFill>
                <a:schemeClr val="dk1"/>
              </a:solidFill>
            </a:endParaRPr>
          </a:p>
          <a:p>
            <a:pPr marL="0" lvl="0" indent="0" algn="l" rtl="0">
              <a:spcBef>
                <a:spcPts val="1200"/>
              </a:spcBef>
              <a:spcAft>
                <a:spcPts val="0"/>
              </a:spcAft>
              <a:buClr>
                <a:schemeClr val="dk1"/>
              </a:buClr>
              <a:buSzPct val="55000"/>
              <a:buFont typeface="Arial"/>
              <a:buNone/>
            </a:pPr>
            <a:r>
              <a:rPr lang="en" sz="2000">
                <a:solidFill>
                  <a:schemeClr val="dk1"/>
                </a:solidFill>
              </a:rPr>
              <a:t>The main goal was to evaluate how data quality and modeling techniques influence predictive performance.</a:t>
            </a:r>
            <a:endParaRPr sz="2000">
              <a:solidFill>
                <a:schemeClr val="dk1"/>
              </a:solidFill>
            </a:endParaRPr>
          </a:p>
          <a:p>
            <a:pPr marL="0" lvl="0" indent="0" algn="l" rtl="0">
              <a:spcBef>
                <a:spcPts val="1200"/>
              </a:spcBef>
              <a:spcAft>
                <a:spcPts val="0"/>
              </a:spcAft>
              <a:buNone/>
            </a:pPr>
            <a:r>
              <a:rPr lang="en" sz="2000" b="1" u="sng">
                <a:solidFill>
                  <a:schemeClr val="dk1"/>
                </a:solidFill>
              </a:rPr>
              <a:t>After thorough experimentation and refinement:</a:t>
            </a:r>
            <a:endParaRPr sz="2000" b="1" u="sng">
              <a:solidFill>
                <a:schemeClr val="dk1"/>
              </a:solidFill>
            </a:endParaRPr>
          </a:p>
          <a:p>
            <a:pPr marL="0" marR="381000" lvl="0" indent="0" algn="l" rtl="0">
              <a:spcBef>
                <a:spcPts val="1200"/>
              </a:spcBef>
              <a:spcAft>
                <a:spcPts val="0"/>
              </a:spcAft>
              <a:buClr>
                <a:schemeClr val="dk1"/>
              </a:buClr>
              <a:buSzPct val="55000"/>
              <a:buFont typeface="Arial"/>
              <a:buNone/>
            </a:pPr>
            <a:r>
              <a:rPr lang="en" sz="2000" b="1">
                <a:solidFill>
                  <a:schemeClr val="dk1"/>
                </a:solidFill>
              </a:rPr>
              <a:t>XGBoost emerged as the most reliable and accurate model</a:t>
            </a:r>
            <a:r>
              <a:rPr lang="en" sz="2000">
                <a:solidFill>
                  <a:schemeClr val="dk1"/>
                </a:solidFill>
              </a:rPr>
              <a:t>, achieving strong generalization (R² ≈ 0.96) and robust performance across all validation metrics.</a:t>
            </a:r>
            <a:endParaRPr sz="2000">
              <a:solidFill>
                <a:schemeClr val="dk1"/>
              </a:solidFill>
            </a:endParaRPr>
          </a:p>
          <a:p>
            <a:pPr marL="0" lvl="0" indent="0" algn="l" rtl="0">
              <a:spcBef>
                <a:spcPts val="1200"/>
              </a:spcBef>
              <a:spcAft>
                <a:spcPts val="0"/>
              </a:spcAft>
              <a:buClr>
                <a:schemeClr val="dk1"/>
              </a:buClr>
              <a:buSzPct val="55000"/>
              <a:buFont typeface="Arial"/>
              <a:buNone/>
            </a:pPr>
            <a:r>
              <a:rPr lang="en" sz="2000" b="1" u="sng">
                <a:solidFill>
                  <a:schemeClr val="dk1"/>
                </a:solidFill>
              </a:rPr>
              <a:t>The study demonstrates that:</a:t>
            </a:r>
            <a:endParaRPr sz="2000" b="1" u="sng">
              <a:solidFill>
                <a:schemeClr val="dk1"/>
              </a:solidFill>
            </a:endParaRPr>
          </a:p>
          <a:p>
            <a:pPr marL="0" lvl="0" indent="0" algn="l" rtl="0">
              <a:spcBef>
                <a:spcPts val="1200"/>
              </a:spcBef>
              <a:spcAft>
                <a:spcPts val="0"/>
              </a:spcAft>
              <a:buNone/>
            </a:pPr>
            <a:r>
              <a:rPr lang="en" sz="2000" b="1">
                <a:solidFill>
                  <a:schemeClr val="dk1"/>
                </a:solidFill>
              </a:rPr>
              <a:t>Clean, engineered data (like features engineering + ensemble methods) = superior predictive accuracy</a:t>
            </a:r>
            <a:endParaRPr sz="2000" b="1">
              <a:solidFill>
                <a:schemeClr val="dk1"/>
              </a:solidFill>
            </a:endParaRPr>
          </a:p>
          <a:p>
            <a:pPr marL="0" lvl="0" indent="0" algn="l" rtl="0">
              <a:spcBef>
                <a:spcPts val="1200"/>
              </a:spcBef>
              <a:spcAft>
                <a:spcPts val="0"/>
              </a:spcAft>
              <a:buNone/>
            </a:pPr>
            <a:r>
              <a:rPr lang="en" sz="2000" b="1">
                <a:solidFill>
                  <a:schemeClr val="dk1"/>
                </a:solidFill>
              </a:rPr>
              <a:t>sqft_living, grade,waterfront, view, and location</a:t>
            </a:r>
            <a:r>
              <a:rPr lang="en" sz="2000">
                <a:solidFill>
                  <a:schemeClr val="dk1"/>
                </a:solidFill>
              </a:rPr>
              <a:t> are the key value drivers in King County’s housing market.</a:t>
            </a:r>
            <a:endParaRPr sz="2000">
              <a:solidFill>
                <a:schemeClr val="dk1"/>
              </a:solidFill>
            </a:endParaRPr>
          </a:p>
          <a:p>
            <a:pPr marL="0" lvl="0" indent="0" algn="l" rtl="0">
              <a:spcBef>
                <a:spcPts val="1200"/>
              </a:spcBef>
              <a:spcAft>
                <a:spcPts val="0"/>
              </a:spcAft>
              <a:buNone/>
            </a:pPr>
            <a:endParaRPr sz="20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207"/>
        <p:cNvGrpSpPr/>
        <p:nvPr/>
      </p:nvGrpSpPr>
      <p:grpSpPr>
        <a:xfrm>
          <a:off x="0" y="0"/>
          <a:ext cx="0" cy="0"/>
          <a:chOff x="0" y="0"/>
          <a:chExt cx="0" cy="0"/>
        </a:xfrm>
      </p:grpSpPr>
      <p:sp>
        <p:nvSpPr>
          <p:cNvPr id="208" name="Google Shape;208;p32"/>
          <p:cNvSpPr txBox="1">
            <a:spLocks noGrp="1"/>
          </p:cNvSpPr>
          <p:nvPr>
            <p:ph type="title"/>
          </p:nvPr>
        </p:nvSpPr>
        <p:spPr>
          <a:xfrm>
            <a:off x="311700" y="445025"/>
            <a:ext cx="8520600" cy="813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t>Prediction? 100% chance we’re done</a:t>
            </a:r>
            <a:endParaRPr b="1"/>
          </a:p>
          <a:p>
            <a:pPr marL="0" lvl="0" indent="0" algn="l" rtl="0">
              <a:spcBef>
                <a:spcPts val="0"/>
              </a:spcBef>
              <a:spcAft>
                <a:spcPts val="0"/>
              </a:spcAft>
              <a:buClr>
                <a:schemeClr val="dk1"/>
              </a:buClr>
              <a:buSzPct val="39285"/>
              <a:buFont typeface="Arial"/>
              <a:buNone/>
            </a:pPr>
            <a:r>
              <a:rPr lang="en" b="1"/>
              <a:t># The End()</a:t>
            </a:r>
            <a:endParaRPr/>
          </a:p>
        </p:txBody>
      </p:sp>
      <p:sp>
        <p:nvSpPr>
          <p:cNvPr id="209" name="Google Shape;209;p32"/>
          <p:cNvSpPr txBox="1">
            <a:spLocks noGrp="1"/>
          </p:cNvSpPr>
          <p:nvPr>
            <p:ph type="body" idx="1"/>
          </p:nvPr>
        </p:nvSpPr>
        <p:spPr>
          <a:xfrm>
            <a:off x="311700" y="2194250"/>
            <a:ext cx="8520600" cy="15099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a:t>We faced real-world challenges with skewed data and location variance, solved them through cleaning and feature design, and proved that XGBoost, combined with high-quality data, delivers accurate, explainable, and business-ready house price predictions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922</Words>
  <Application>Microsoft Office PowerPoint</Application>
  <PresentationFormat>On-screen Show (16:9)</PresentationFormat>
  <Paragraphs>134</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Roboto</vt:lpstr>
      <vt:lpstr>Arial</vt:lpstr>
      <vt:lpstr>Simple Light</vt:lpstr>
      <vt:lpstr>PowerPoint Presentation</vt:lpstr>
      <vt:lpstr>Project Overview</vt:lpstr>
      <vt:lpstr>Work Flow</vt:lpstr>
      <vt:lpstr>Implementation Details</vt:lpstr>
      <vt:lpstr>Model Comparison (On Raw Data)</vt:lpstr>
      <vt:lpstr>Implementation Details</vt:lpstr>
      <vt:lpstr>Correlation Analysis</vt:lpstr>
      <vt:lpstr>Feature Engineering</vt:lpstr>
      <vt:lpstr>Categories considered for Model Training</vt:lpstr>
      <vt:lpstr>Data  Cleaning</vt:lpstr>
      <vt:lpstr>Model Performance</vt:lpstr>
      <vt:lpstr>Model Performance</vt:lpstr>
      <vt:lpstr>HyperParameter Tuning with GridSearch </vt:lpstr>
      <vt:lpstr>Best Parameters Tuning with GridSearch </vt:lpstr>
      <vt:lpstr>Feature Importance</vt:lpstr>
      <vt:lpstr>Teamwork &amp; Project Management</vt:lpstr>
      <vt:lpstr>Key Learnings &amp; Takeaways </vt:lpstr>
      <vt:lpstr>Major Obstacle</vt:lpstr>
      <vt:lpstr>Conclusion and Insights</vt:lpstr>
      <vt:lpstr>Prediction? 100% chance we’re done #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Eloisa Salinas</dc:creator>
  <cp:lastModifiedBy>Eloisa Salinas</cp:lastModifiedBy>
  <cp:revision>1</cp:revision>
  <dcterms:modified xsi:type="dcterms:W3CDTF">2025-11-07T16:19:33Z</dcterms:modified>
</cp:coreProperties>
</file>